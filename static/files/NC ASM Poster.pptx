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8" r:id="rId2"/>
  </p:sldIdLst>
  <p:sldSz cx="43891200" cy="3291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2169"/>
    <a:srgbClr val="E5E5E5"/>
    <a:srgbClr val="FFFFFF"/>
    <a:srgbClr val="003087"/>
    <a:srgbClr val="00539B"/>
    <a:srgbClr val="0C87F2"/>
    <a:srgbClr val="3E8B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3ED209-A555-4A8C-9139-C6B1EC565B68}" v="191" dt="2024-10-08T15:25:47.773"/>
    <p1510:client id="{C8254311-28FE-466D-925D-E48DF5DE7446}" v="71" dt="2024-10-08T15:42:17.243"/>
    <p1510:client id="{E586AA9A-B43F-4EC8-9367-10CF6C394638}" v="20" dt="2024-10-07T13:37:04.3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a Babusci" userId="2lkdMBg2uzaOuXreleEYobVWuQW3icIypZW00spLun8=" providerId="None" clId="Web-{C8254311-28FE-466D-925D-E48DF5DE7446}"/>
    <pc:docChg chg="addSld delSld modSld">
      <pc:chgData name="Erica Babusci" userId="2lkdMBg2uzaOuXreleEYobVWuQW3icIypZW00spLun8=" providerId="None" clId="Web-{C8254311-28FE-466D-925D-E48DF5DE7446}" dt="2024-10-08T15:42:17.243" v="45" actId="14100"/>
      <pc:docMkLst>
        <pc:docMk/>
      </pc:docMkLst>
      <pc:sldChg chg="addSp delSp modSp">
        <pc:chgData name="Erica Babusci" userId="2lkdMBg2uzaOuXreleEYobVWuQW3icIypZW00spLun8=" providerId="None" clId="Web-{C8254311-28FE-466D-925D-E48DF5DE7446}" dt="2024-10-08T15:42:17.243" v="45" actId="14100"/>
        <pc:sldMkLst>
          <pc:docMk/>
          <pc:sldMk cId="3539045820" sldId="258"/>
        </pc:sldMkLst>
        <pc:spChg chg="mod">
          <ac:chgData name="Erica Babusci" userId="2lkdMBg2uzaOuXreleEYobVWuQW3icIypZW00spLun8=" providerId="None" clId="Web-{C8254311-28FE-466D-925D-E48DF5DE7446}" dt="2024-10-08T15:41:35.132" v="43" actId="20577"/>
          <ac:spMkLst>
            <pc:docMk/>
            <pc:sldMk cId="3539045820" sldId="258"/>
            <ac:spMk id="21" creationId="{FEC56C7F-5B75-1742-6834-B3834B4FDB58}"/>
          </ac:spMkLst>
        </pc:spChg>
        <pc:spChg chg="mod">
          <ac:chgData name="Erica Babusci" userId="2lkdMBg2uzaOuXreleEYobVWuQW3icIypZW00spLun8=" providerId="None" clId="Web-{C8254311-28FE-466D-925D-E48DF5DE7446}" dt="2024-10-08T15:31:50.110" v="26" actId="20577"/>
          <ac:spMkLst>
            <pc:docMk/>
            <pc:sldMk cId="3539045820" sldId="258"/>
            <ac:spMk id="44" creationId="{06617C62-5291-8BEA-B449-263022203096}"/>
          </ac:spMkLst>
        </pc:spChg>
        <pc:spChg chg="mod">
          <ac:chgData name="Erica Babusci" userId="2lkdMBg2uzaOuXreleEYobVWuQW3icIypZW00spLun8=" providerId="None" clId="Web-{C8254311-28FE-466D-925D-E48DF5DE7446}" dt="2024-10-08T15:28:13.932" v="4" actId="20577"/>
          <ac:spMkLst>
            <pc:docMk/>
            <pc:sldMk cId="3539045820" sldId="258"/>
            <ac:spMk id="50" creationId="{F5A12F90-53DA-533A-C301-79C60C528E7E}"/>
          </ac:spMkLst>
        </pc:spChg>
        <pc:grpChg chg="mod">
          <ac:chgData name="Erica Babusci" userId="2lkdMBg2uzaOuXreleEYobVWuQW3icIypZW00spLun8=" providerId="None" clId="Web-{C8254311-28FE-466D-925D-E48DF5DE7446}" dt="2024-10-08T15:27:35.539" v="0" actId="14100"/>
          <ac:grpSpMkLst>
            <pc:docMk/>
            <pc:sldMk cId="3539045820" sldId="258"/>
            <ac:grpSpMk id="62" creationId="{F26393A8-15B9-8DD5-06EB-E12867E22854}"/>
          </ac:grpSpMkLst>
        </pc:grpChg>
        <pc:picChg chg="add mod modCrop">
          <ac:chgData name="Erica Babusci" userId="2lkdMBg2uzaOuXreleEYobVWuQW3icIypZW00spLun8=" providerId="None" clId="Web-{C8254311-28FE-466D-925D-E48DF5DE7446}" dt="2024-10-08T15:32:52.019" v="38" actId="14100"/>
          <ac:picMkLst>
            <pc:docMk/>
            <pc:sldMk cId="3539045820" sldId="258"/>
            <ac:picMk id="17" creationId="{E0E9D780-3B4A-0ABC-BB12-523D5780F054}"/>
          </ac:picMkLst>
        </pc:picChg>
        <pc:picChg chg="del">
          <ac:chgData name="Erica Babusci" userId="2lkdMBg2uzaOuXreleEYobVWuQW3icIypZW00spLun8=" providerId="None" clId="Web-{C8254311-28FE-466D-925D-E48DF5DE7446}" dt="2024-10-08T15:32:01.361" v="27"/>
          <ac:picMkLst>
            <pc:docMk/>
            <pc:sldMk cId="3539045820" sldId="258"/>
            <ac:picMk id="54" creationId="{9FA1A834-1A3A-2AA1-FB8D-E4F38EFB8E22}"/>
          </ac:picMkLst>
        </pc:picChg>
        <pc:picChg chg="mod">
          <ac:chgData name="Erica Babusci" userId="2lkdMBg2uzaOuXreleEYobVWuQW3icIypZW00spLun8=" providerId="None" clId="Web-{C8254311-28FE-466D-925D-E48DF5DE7446}" dt="2024-10-08T15:42:17.243" v="45" actId="14100"/>
          <ac:picMkLst>
            <pc:docMk/>
            <pc:sldMk cId="3539045820" sldId="258"/>
            <ac:picMk id="61" creationId="{A81AE233-D741-35BF-0D0C-8278D13843F8}"/>
          </ac:picMkLst>
        </pc:picChg>
      </pc:sldChg>
      <pc:sldChg chg="addSp delSp modSp new del">
        <pc:chgData name="Erica Babusci" userId="2lkdMBg2uzaOuXreleEYobVWuQW3icIypZW00spLun8=" providerId="None" clId="Web-{C8254311-28FE-466D-925D-E48DF5DE7446}" dt="2024-10-08T15:32:59.472" v="39"/>
        <pc:sldMkLst>
          <pc:docMk/>
          <pc:sldMk cId="1715569111" sldId="259"/>
        </pc:sldMkLst>
        <pc:spChg chg="del">
          <ac:chgData name="Erica Babusci" userId="2lkdMBg2uzaOuXreleEYobVWuQW3icIypZW00spLun8=" providerId="None" clId="Web-{C8254311-28FE-466D-925D-E48DF5DE7446}" dt="2024-10-08T15:32:15.955" v="29"/>
          <ac:spMkLst>
            <pc:docMk/>
            <pc:sldMk cId="1715569111" sldId="259"/>
            <ac:spMk id="3" creationId="{1E404FFF-72E0-AF04-F9DE-7A2784D5AD93}"/>
          </ac:spMkLst>
        </pc:spChg>
        <pc:picChg chg="add mod ord">
          <ac:chgData name="Erica Babusci" userId="2lkdMBg2uzaOuXreleEYobVWuQW3icIypZW00spLun8=" providerId="None" clId="Web-{C8254311-28FE-466D-925D-E48DF5DE7446}" dt="2024-10-08T15:32:15.955" v="29"/>
          <ac:picMkLst>
            <pc:docMk/>
            <pc:sldMk cId="1715569111" sldId="259"/>
            <ac:picMk id="4" creationId="{A287CCE4-7B88-F7CB-DF0E-9878EFE552D2}"/>
          </ac:picMkLst>
        </pc:picChg>
      </pc:sldChg>
    </pc:docChg>
  </pc:docChgLst>
  <pc:docChgLst>
    <pc:chgData name="Erica Babusci" userId="2lkdMBg2uzaOuXreleEYobVWuQW3icIypZW00spLun8=" providerId="None" clId="Web-{063ED209-A555-4A8C-9139-C6B1EC565B68}"/>
    <pc:docChg chg="addSld delSld modSld">
      <pc:chgData name="Erica Babusci" userId="2lkdMBg2uzaOuXreleEYobVWuQW3icIypZW00spLun8=" providerId="None" clId="Web-{063ED209-A555-4A8C-9139-C6B1EC565B68}" dt="2024-10-08T15:25:45.413" v="103" actId="20577"/>
      <pc:docMkLst>
        <pc:docMk/>
      </pc:docMkLst>
      <pc:sldChg chg="addSp delSp modSp">
        <pc:chgData name="Erica Babusci" userId="2lkdMBg2uzaOuXreleEYobVWuQW3icIypZW00spLun8=" providerId="None" clId="Web-{063ED209-A555-4A8C-9139-C6B1EC565B68}" dt="2024-10-08T15:25:45.413" v="103" actId="20577"/>
        <pc:sldMkLst>
          <pc:docMk/>
          <pc:sldMk cId="3539045820" sldId="258"/>
        </pc:sldMkLst>
        <pc:spChg chg="add del mod">
          <ac:chgData name="Erica Babusci" userId="2lkdMBg2uzaOuXreleEYobVWuQW3icIypZW00spLun8=" providerId="None" clId="Web-{063ED209-A555-4A8C-9139-C6B1EC565B68}" dt="2024-10-08T15:21:11.794" v="72"/>
          <ac:spMkLst>
            <pc:docMk/>
            <pc:sldMk cId="3539045820" sldId="258"/>
            <ac:spMk id="5" creationId="{957781C4-40E3-28F7-948B-5D2EA906524E}"/>
          </ac:spMkLst>
        </pc:spChg>
        <pc:spChg chg="mod">
          <ac:chgData name="Erica Babusci" userId="2lkdMBg2uzaOuXreleEYobVWuQW3icIypZW00spLun8=" providerId="None" clId="Web-{063ED209-A555-4A8C-9139-C6B1EC565B68}" dt="2024-10-08T15:14:54.297" v="16" actId="20577"/>
          <ac:spMkLst>
            <pc:docMk/>
            <pc:sldMk cId="3539045820" sldId="258"/>
            <ac:spMk id="10" creationId="{F68DA015-58F1-3696-CC00-A630797317D2}"/>
          </ac:spMkLst>
        </pc:spChg>
        <pc:spChg chg="mod">
          <ac:chgData name="Erica Babusci" userId="2lkdMBg2uzaOuXreleEYobVWuQW3icIypZW00spLun8=" providerId="None" clId="Web-{063ED209-A555-4A8C-9139-C6B1EC565B68}" dt="2024-10-08T15:15:19.673" v="26" actId="20577"/>
          <ac:spMkLst>
            <pc:docMk/>
            <pc:sldMk cId="3539045820" sldId="258"/>
            <ac:spMk id="12" creationId="{3F1E09D4-8945-097C-C5A9-57B3546BB63A}"/>
          </ac:spMkLst>
        </pc:spChg>
        <pc:spChg chg="mod">
          <ac:chgData name="Erica Babusci" userId="2lkdMBg2uzaOuXreleEYobVWuQW3icIypZW00spLun8=" providerId="None" clId="Web-{063ED209-A555-4A8C-9139-C6B1EC565B68}" dt="2024-10-08T15:25:45.413" v="103" actId="20577"/>
          <ac:spMkLst>
            <pc:docMk/>
            <pc:sldMk cId="3539045820" sldId="258"/>
            <ac:spMk id="21" creationId="{FEC56C7F-5B75-1742-6834-B3834B4FDB58}"/>
          </ac:spMkLst>
        </pc:spChg>
        <pc:picChg chg="add mod">
          <ac:chgData name="Erica Babusci" userId="2lkdMBg2uzaOuXreleEYobVWuQW3icIypZW00spLun8=" providerId="None" clId="Web-{063ED209-A555-4A8C-9139-C6B1EC565B68}" dt="2024-10-08T15:24:18.941" v="89" actId="14100"/>
          <ac:picMkLst>
            <pc:docMk/>
            <pc:sldMk cId="3539045820" sldId="258"/>
            <ac:picMk id="24" creationId="{2BECA49C-FE09-0F14-8D8F-EE23F9AA2C48}"/>
          </ac:picMkLst>
        </pc:picChg>
        <pc:picChg chg="del">
          <ac:chgData name="Erica Babusci" userId="2lkdMBg2uzaOuXreleEYobVWuQW3icIypZW00spLun8=" providerId="None" clId="Web-{063ED209-A555-4A8C-9139-C6B1EC565B68}" dt="2024-10-08T15:24:05.003" v="84"/>
          <ac:picMkLst>
            <pc:docMk/>
            <pc:sldMk cId="3539045820" sldId="258"/>
            <ac:picMk id="64" creationId="{69F6D561-C44A-CC49-6E05-39B17E055DD0}"/>
          </ac:picMkLst>
        </pc:picChg>
      </pc:sldChg>
      <pc:sldChg chg="addSp delSp modSp new del">
        <pc:chgData name="Erica Babusci" userId="2lkdMBg2uzaOuXreleEYobVWuQW3icIypZW00spLun8=" providerId="None" clId="Web-{063ED209-A555-4A8C-9139-C6B1EC565B68}" dt="2024-10-08T15:24:24.723" v="91"/>
        <pc:sldMkLst>
          <pc:docMk/>
          <pc:sldMk cId="1193732051" sldId="259"/>
        </pc:sldMkLst>
        <pc:spChg chg="del">
          <ac:chgData name="Erica Babusci" userId="2lkdMBg2uzaOuXreleEYobVWuQW3icIypZW00spLun8=" providerId="None" clId="Web-{063ED209-A555-4A8C-9139-C6B1EC565B68}" dt="2024-10-08T15:23:03.392" v="74"/>
          <ac:spMkLst>
            <pc:docMk/>
            <pc:sldMk cId="1193732051" sldId="259"/>
            <ac:spMk id="3" creationId="{818E898E-62C8-1F47-976D-013BCC4FBEBB}"/>
          </ac:spMkLst>
        </pc:spChg>
        <pc:spChg chg="add mod">
          <ac:chgData name="Erica Babusci" userId="2lkdMBg2uzaOuXreleEYobVWuQW3icIypZW00spLun8=" providerId="None" clId="Web-{063ED209-A555-4A8C-9139-C6B1EC565B68}" dt="2024-10-08T15:23:29.299" v="76"/>
          <ac:spMkLst>
            <pc:docMk/>
            <pc:sldMk cId="1193732051" sldId="259"/>
            <ac:spMk id="5" creationId="{18444951-9C3E-4F5F-2F41-D5780C4144BA}"/>
          </ac:spMkLst>
        </pc:spChg>
        <pc:spChg chg="add mod">
          <ac:chgData name="Erica Babusci" userId="2lkdMBg2uzaOuXreleEYobVWuQW3icIypZW00spLun8=" providerId="None" clId="Web-{063ED209-A555-4A8C-9139-C6B1EC565B68}" dt="2024-10-08T15:24:20.660" v="90"/>
          <ac:spMkLst>
            <pc:docMk/>
            <pc:sldMk cId="1193732051" sldId="259"/>
            <ac:spMk id="8" creationId="{0083F731-F2C6-EC18-575B-4E4CDCA0A0F4}"/>
          </ac:spMkLst>
        </pc:spChg>
        <pc:picChg chg="add del mod ord">
          <ac:chgData name="Erica Babusci" userId="2lkdMBg2uzaOuXreleEYobVWuQW3icIypZW00spLun8=" providerId="None" clId="Web-{063ED209-A555-4A8C-9139-C6B1EC565B68}" dt="2024-10-08T15:24:20.660" v="90"/>
          <ac:picMkLst>
            <pc:docMk/>
            <pc:sldMk cId="1193732051" sldId="259"/>
            <ac:picMk id="4" creationId="{9BB24657-EF54-EAAC-01EC-415DCAED7EC4}"/>
          </ac:picMkLst>
        </pc:picChg>
        <pc:picChg chg="add mod modCrop">
          <ac:chgData name="Erica Babusci" userId="2lkdMBg2uzaOuXreleEYobVWuQW3icIypZW00spLun8=" providerId="None" clId="Web-{063ED209-A555-4A8C-9139-C6B1EC565B68}" dt="2024-10-08T15:23:53.815" v="82"/>
          <ac:picMkLst>
            <pc:docMk/>
            <pc:sldMk cId="1193732051" sldId="259"/>
            <ac:picMk id="6" creationId="{68BB72CA-2072-7DB1-DBC2-AD686C72A628}"/>
          </ac:picMkLst>
        </pc:picChg>
      </pc:sldChg>
    </pc:docChg>
  </pc:docChgLst>
  <pc:docChgLst>
    <pc:chgData name="Erica Babusci" userId="2lkdMBg2uzaOuXreleEYobVWuQW3icIypZW00spLun8=" providerId="None" clId="Web-{E586AA9A-B43F-4EC8-9367-10CF6C394638}"/>
    <pc:docChg chg="modSld">
      <pc:chgData name="Erica Babusci" userId="2lkdMBg2uzaOuXreleEYobVWuQW3icIypZW00spLun8=" providerId="None" clId="Web-{E586AA9A-B43F-4EC8-9367-10CF6C394638}" dt="2024-10-07T13:37:04.352" v="9" actId="20577"/>
      <pc:docMkLst>
        <pc:docMk/>
      </pc:docMkLst>
      <pc:sldChg chg="modSp">
        <pc:chgData name="Erica Babusci" userId="2lkdMBg2uzaOuXreleEYobVWuQW3icIypZW00spLun8=" providerId="None" clId="Web-{E586AA9A-B43F-4EC8-9367-10CF6C394638}" dt="2024-10-07T13:37:04.352" v="9" actId="20577"/>
        <pc:sldMkLst>
          <pc:docMk/>
          <pc:sldMk cId="3539045820" sldId="258"/>
        </pc:sldMkLst>
        <pc:spChg chg="mod">
          <ac:chgData name="Erica Babusci" userId="2lkdMBg2uzaOuXreleEYobVWuQW3icIypZW00spLun8=" providerId="None" clId="Web-{E586AA9A-B43F-4EC8-9367-10CF6C394638}" dt="2024-10-07T13:37:04.352" v="9" actId="20577"/>
          <ac:spMkLst>
            <pc:docMk/>
            <pc:sldMk cId="3539045820" sldId="258"/>
            <ac:spMk id="23" creationId="{3FE47EFE-1D8F-15B1-683C-997830F49E7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8000"/>
            </a:lvl1pPr>
          </a:lstStyle>
          <a:p>
            <a:r>
              <a:rPr lang="en-US"/>
              <a:t>Click to edit Master title style</a:t>
            </a:r>
          </a:p>
        </p:txBody>
      </p:sp>
      <p:sp>
        <p:nvSpPr>
          <p:cNvPr id="3" name="Subtitle 2"/>
          <p:cNvSpPr>
            <a:spLocks noGrp="1"/>
          </p:cNvSpPr>
          <p:nvPr>
            <p:ph type="subTitle" idx="1"/>
          </p:nvPr>
        </p:nvSpPr>
        <p:spPr>
          <a:xfrm>
            <a:off x="5486400" y="17289782"/>
            <a:ext cx="32918400" cy="7947658"/>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10505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54352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8000"/>
            </a:lvl1pPr>
          </a:lstStyle>
          <a:p>
            <a:r>
              <a:rPr lang="en-US"/>
              <a:t>Click to edit Master title style</a:t>
            </a:r>
          </a:p>
        </p:txBody>
      </p:sp>
      <p:sp>
        <p:nvSpPr>
          <p:cNvPr id="3" name="Text Placeholder 2"/>
          <p:cNvSpPr>
            <a:spLocks noGrp="1"/>
          </p:cNvSpPr>
          <p:nvPr>
            <p:ph type="body" idx="1"/>
          </p:nvPr>
        </p:nvSpPr>
        <p:spPr>
          <a:xfrm>
            <a:off x="2994662" y="22029429"/>
            <a:ext cx="37856160" cy="7200898"/>
          </a:xfrm>
        </p:spPr>
        <p:txBody>
          <a:bodyPr/>
          <a:lstStyle>
            <a:lvl1pPr marL="0" indent="0">
              <a:buNone/>
              <a:defRPr sz="320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784394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8374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10/8/2024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24608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10/8/2024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83578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45402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4267"/>
            </a:lvl1pPr>
          </a:lstStyle>
          <a:p>
            <a:r>
              <a:rPr lang="en-US"/>
              <a:t>Click to edit Master title style</a:t>
            </a:r>
          </a:p>
        </p:txBody>
      </p:sp>
      <p:sp>
        <p:nvSpPr>
          <p:cNvPr id="3" name="Content Placeholder 2"/>
          <p:cNvSpPr>
            <a:spLocks noGrp="1"/>
          </p:cNvSpPr>
          <p:nvPr>
            <p:ph idx="1"/>
          </p:nvPr>
        </p:nvSpPr>
        <p:spPr>
          <a:xfrm>
            <a:off x="18659477" y="4739647"/>
            <a:ext cx="22219920" cy="23393400"/>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892135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4267"/>
            </a:lvl1pPr>
          </a:lstStyle>
          <a:p>
            <a:r>
              <a:rPr lang="en-US"/>
              <a:t>Click to edit Master title style</a:t>
            </a:r>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US"/>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16500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2285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66430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1600">
                <a:solidFill>
                  <a:schemeClr val="tx1">
                    <a:tint val="75000"/>
                  </a:schemeClr>
                </a:solidFill>
              </a:defRPr>
            </a:lvl1pPr>
          </a:lstStyle>
          <a:p>
            <a:fld id="{C764DE79-268F-4C1A-8933-263129D2AF90}" type="datetimeFigureOut">
              <a:rPr lang="en-US" dirty="0"/>
              <a:t>10/8/2024</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16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42822338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emf"/><Relationship Id="rId4" Type="http://schemas.openxmlformats.org/officeDocument/2006/relationships/image" Target="../media/image3.emf"/><Relationship Id="rId9" Type="http://schemas.openxmlformats.org/officeDocument/2006/relationships/image" Target="../media/image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6D88A-0EF6-B303-50BB-2B3D5DEB8F2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4E8562F-F57B-0E61-EA2C-928A836D7694}"/>
              </a:ext>
            </a:extLst>
          </p:cNvPr>
          <p:cNvSpPr/>
          <p:nvPr/>
        </p:nvSpPr>
        <p:spPr>
          <a:xfrm>
            <a:off x="-11368" y="-10686"/>
            <a:ext cx="43898019" cy="3715645"/>
          </a:xfrm>
          <a:prstGeom prst="rect">
            <a:avLst/>
          </a:prstGeom>
          <a:solidFill>
            <a:srgbClr val="01216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12169"/>
              </a:solidFill>
            </a:endParaRPr>
          </a:p>
        </p:txBody>
      </p:sp>
      <p:sp>
        <p:nvSpPr>
          <p:cNvPr id="9" name="TextBox 8">
            <a:extLst>
              <a:ext uri="{FF2B5EF4-FFF2-40B4-BE49-F238E27FC236}">
                <a16:creationId xmlns:a16="http://schemas.microsoft.com/office/drawing/2014/main" id="{E9C0E9F8-11FF-ACE4-EC17-7F9FDFF40F25}"/>
              </a:ext>
            </a:extLst>
          </p:cNvPr>
          <p:cNvSpPr txBox="1"/>
          <p:nvPr/>
        </p:nvSpPr>
        <p:spPr>
          <a:xfrm>
            <a:off x="379743" y="936597"/>
            <a:ext cx="10508471" cy="24160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500">
                <a:solidFill>
                  <a:schemeClr val="bg1"/>
                </a:solidFill>
                <a:latin typeface="Times New Roman"/>
                <a:cs typeface="Calibri"/>
              </a:rPr>
              <a:t>D</a:t>
            </a:r>
            <a:r>
              <a:rPr lang="en-US" sz="4000">
                <a:solidFill>
                  <a:schemeClr val="bg1"/>
                </a:solidFill>
                <a:latin typeface="Times New Roman"/>
                <a:cs typeface="Calibri"/>
              </a:rPr>
              <a:t> </a:t>
            </a:r>
            <a:r>
              <a:rPr lang="en-US" sz="11500">
                <a:solidFill>
                  <a:schemeClr val="bg1"/>
                </a:solidFill>
                <a:latin typeface="Times New Roman"/>
                <a:cs typeface="Calibri"/>
              </a:rPr>
              <a:t>u</a:t>
            </a:r>
            <a:r>
              <a:rPr lang="en-US" sz="4400">
                <a:solidFill>
                  <a:schemeClr val="bg1"/>
                </a:solidFill>
                <a:latin typeface="Times New Roman"/>
                <a:cs typeface="Calibri"/>
              </a:rPr>
              <a:t> </a:t>
            </a:r>
            <a:r>
              <a:rPr lang="en-US" sz="11500">
                <a:solidFill>
                  <a:schemeClr val="bg1"/>
                </a:solidFill>
                <a:latin typeface="Times New Roman"/>
                <a:cs typeface="Calibri"/>
              </a:rPr>
              <a:t>k</a:t>
            </a:r>
            <a:r>
              <a:rPr lang="en-US" sz="4000">
                <a:solidFill>
                  <a:schemeClr val="bg1"/>
                </a:solidFill>
                <a:latin typeface="Times New Roman"/>
                <a:cs typeface="Calibri"/>
              </a:rPr>
              <a:t> </a:t>
            </a:r>
            <a:r>
              <a:rPr lang="en-US" sz="11500">
                <a:solidFill>
                  <a:schemeClr val="bg1"/>
                </a:solidFill>
                <a:latin typeface="Times New Roman"/>
                <a:cs typeface="Calibri"/>
              </a:rPr>
              <a:t>e</a:t>
            </a:r>
            <a:endParaRPr lang="en-US" sz="8800">
              <a:solidFill>
                <a:schemeClr val="bg1"/>
              </a:solidFill>
              <a:latin typeface="Times New Roman"/>
              <a:cs typeface="Calibri"/>
            </a:endParaRPr>
          </a:p>
          <a:p>
            <a:r>
              <a:rPr lang="en-US" sz="3600">
                <a:solidFill>
                  <a:schemeClr val="bg1"/>
                </a:solidFill>
                <a:latin typeface="Times New Roman"/>
                <a:cs typeface="Calibri"/>
              </a:rPr>
              <a:t>U N I V E R S I T Y</a:t>
            </a:r>
          </a:p>
        </p:txBody>
      </p:sp>
      <p:sp>
        <p:nvSpPr>
          <p:cNvPr id="11" name="TextBox 10">
            <a:extLst>
              <a:ext uri="{FF2B5EF4-FFF2-40B4-BE49-F238E27FC236}">
                <a16:creationId xmlns:a16="http://schemas.microsoft.com/office/drawing/2014/main" id="{85078A5C-D965-5D41-36D6-1CDFAE22F751}"/>
              </a:ext>
            </a:extLst>
          </p:cNvPr>
          <p:cNvSpPr txBox="1"/>
          <p:nvPr/>
        </p:nvSpPr>
        <p:spPr>
          <a:xfrm>
            <a:off x="35875435" y="1881749"/>
            <a:ext cx="8015764"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endParaRPr lang="en-US" sz="3200">
              <a:solidFill>
                <a:schemeClr val="bg1"/>
              </a:solidFill>
              <a:latin typeface="Times New Roman"/>
              <a:cs typeface="Calibri"/>
            </a:endParaRPr>
          </a:p>
          <a:p>
            <a:pPr algn="r"/>
            <a:r>
              <a:rPr lang="en-US" sz="3200">
                <a:solidFill>
                  <a:schemeClr val="bg1"/>
                </a:solidFill>
                <a:latin typeface="Times New Roman"/>
                <a:cs typeface="Calibri"/>
              </a:rPr>
              <a:t>614-600-6861</a:t>
            </a:r>
          </a:p>
          <a:p>
            <a:pPr algn="r"/>
            <a:r>
              <a:rPr lang="en-US" sz="3200">
                <a:solidFill>
                  <a:schemeClr val="bg1"/>
                </a:solidFill>
                <a:latin typeface="Times New Roman"/>
                <a:cs typeface="Calibri"/>
              </a:rPr>
              <a:t>Erica.babusci@duke.edu</a:t>
            </a:r>
          </a:p>
        </p:txBody>
      </p:sp>
      <p:sp>
        <p:nvSpPr>
          <p:cNvPr id="12" name="TextBox 11">
            <a:extLst>
              <a:ext uri="{FF2B5EF4-FFF2-40B4-BE49-F238E27FC236}">
                <a16:creationId xmlns:a16="http://schemas.microsoft.com/office/drawing/2014/main" id="{3F1E09D4-8945-097C-C5A9-57B3546BB63A}"/>
              </a:ext>
            </a:extLst>
          </p:cNvPr>
          <p:cNvSpPr txBox="1"/>
          <p:nvPr/>
        </p:nvSpPr>
        <p:spPr>
          <a:xfrm>
            <a:off x="2929090" y="320964"/>
            <a:ext cx="38033019"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algn="ctr">
              <a:spcBef>
                <a:spcPts val="0"/>
              </a:spcBef>
              <a:spcAft>
                <a:spcPts val="0"/>
              </a:spcAft>
            </a:pPr>
            <a:r>
              <a:rPr lang="en-US" sz="7000">
                <a:solidFill>
                  <a:schemeClr val="bg1"/>
                </a:solidFill>
                <a:effectLst/>
                <a:latin typeface="Times New Roman" panose="02020603050405020304" pitchFamily="18" charset="0"/>
                <a:ea typeface="SimHei" panose="02010609060101010101" pitchFamily="49" charset="-122"/>
              </a:rPr>
              <a:t>The Effect of Microencapsulation on the Growth of the Fungal Genera </a:t>
            </a:r>
            <a:r>
              <a:rPr lang="en-US" sz="7000" i="1">
                <a:solidFill>
                  <a:schemeClr val="bg1"/>
                </a:solidFill>
                <a:effectLst/>
                <a:latin typeface="Times New Roman" panose="02020603050405020304" pitchFamily="18" charset="0"/>
                <a:ea typeface="SimHei" panose="02010609060101010101" pitchFamily="49" charset="-122"/>
              </a:rPr>
              <a:t>Trichoderma</a:t>
            </a:r>
            <a:r>
              <a:rPr lang="en-US" sz="7000">
                <a:solidFill>
                  <a:schemeClr val="bg1"/>
                </a:solidFill>
                <a:effectLst/>
                <a:latin typeface="Times New Roman" panose="02020603050405020304" pitchFamily="18" charset="0"/>
                <a:ea typeface="SimHei" panose="02010609060101010101" pitchFamily="49" charset="-122"/>
              </a:rPr>
              <a:t> and </a:t>
            </a:r>
            <a:r>
              <a:rPr lang="en-US" sz="7000" i="1">
                <a:solidFill>
                  <a:schemeClr val="bg1"/>
                </a:solidFill>
                <a:effectLst/>
                <a:latin typeface="Times New Roman" panose="02020603050405020304" pitchFamily="18" charset="0"/>
                <a:ea typeface="SimHei" panose="02010609060101010101" pitchFamily="49" charset="-122"/>
              </a:rPr>
              <a:t>Aureobasidium</a:t>
            </a:r>
            <a:endParaRPr lang="en-US" sz="7000">
              <a:solidFill>
                <a:schemeClr val="bg1"/>
              </a:solidFill>
              <a:effectLst/>
              <a:latin typeface="Times New Roman" panose="02020603050405020304" pitchFamily="18" charset="0"/>
              <a:ea typeface="Times New Roman" panose="02020603050405020304" pitchFamily="18" charset="0"/>
            </a:endParaRPr>
          </a:p>
          <a:p>
            <a:pPr algn="ctr"/>
            <a:endParaRPr lang="en-US">
              <a:solidFill>
                <a:schemeClr val="bg1"/>
              </a:solidFill>
              <a:latin typeface="Times New Roman"/>
              <a:cs typeface="Calibri"/>
            </a:endParaRPr>
          </a:p>
          <a:p>
            <a:pPr algn="ctr"/>
            <a:r>
              <a:rPr lang="en-US" sz="4400">
                <a:solidFill>
                  <a:schemeClr val="bg1"/>
                </a:solidFill>
                <a:latin typeface="Times New Roman"/>
                <a:cs typeface="Calibri"/>
              </a:rPr>
              <a:t>Erica </a:t>
            </a:r>
            <a:r>
              <a:rPr lang="en-US" sz="4400" err="1">
                <a:solidFill>
                  <a:schemeClr val="bg1"/>
                </a:solidFill>
                <a:latin typeface="Times New Roman"/>
                <a:cs typeface="Calibri"/>
              </a:rPr>
              <a:t>Babusci</a:t>
            </a:r>
            <a:r>
              <a:rPr lang="en-US" sz="4400">
                <a:solidFill>
                  <a:schemeClr val="bg1"/>
                </a:solidFill>
                <a:latin typeface="Times New Roman"/>
                <a:cs typeface="Calibri"/>
              </a:rPr>
              <a:t> and Claudia K. Gunsch</a:t>
            </a:r>
          </a:p>
          <a:p>
            <a:pPr algn="ctr"/>
            <a:r>
              <a:rPr lang="en-US" sz="4400" i="1">
                <a:solidFill>
                  <a:schemeClr val="bg1"/>
                </a:solidFill>
                <a:latin typeface="Times New Roman"/>
                <a:cs typeface="Calibri"/>
              </a:rPr>
              <a:t>Department of Civil and Environmental Engineering, Duke University</a:t>
            </a:r>
          </a:p>
        </p:txBody>
      </p:sp>
      <p:sp>
        <p:nvSpPr>
          <p:cNvPr id="13" name="Rectangle 12">
            <a:extLst>
              <a:ext uri="{FF2B5EF4-FFF2-40B4-BE49-F238E27FC236}">
                <a16:creationId xmlns:a16="http://schemas.microsoft.com/office/drawing/2014/main" id="{14A27DF2-62C7-63C1-606E-1DFEB339450A}"/>
              </a:ext>
            </a:extLst>
          </p:cNvPr>
          <p:cNvSpPr/>
          <p:nvPr/>
        </p:nvSpPr>
        <p:spPr>
          <a:xfrm>
            <a:off x="-11369" y="3655059"/>
            <a:ext cx="43898019" cy="29253676"/>
          </a:xfrm>
          <a:prstGeom prst="rect">
            <a:avLst/>
          </a:prstGeom>
          <a:solidFill>
            <a:srgbClr val="E5E5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C3AB462-CB59-8CC5-0D87-F952B2AB7CE6}"/>
              </a:ext>
            </a:extLst>
          </p:cNvPr>
          <p:cNvSpPr/>
          <p:nvPr/>
        </p:nvSpPr>
        <p:spPr>
          <a:xfrm>
            <a:off x="302793" y="3934566"/>
            <a:ext cx="18120114" cy="8821214"/>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E0ACFE-954F-698C-88E2-B7F0CC41F898}"/>
              </a:ext>
            </a:extLst>
          </p:cNvPr>
          <p:cNvSpPr>
            <a:spLocks noGrp="1" noRot="1" noMove="1" noResize="1" noEditPoints="1" noAdjustHandles="1" noChangeArrowheads="1" noChangeShapeType="1"/>
          </p:cNvSpPr>
          <p:nvPr/>
        </p:nvSpPr>
        <p:spPr>
          <a:xfrm>
            <a:off x="18745200" y="3934566"/>
            <a:ext cx="24858500" cy="19324038"/>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p>
        </p:txBody>
      </p:sp>
      <p:sp>
        <p:nvSpPr>
          <p:cNvPr id="16" name="Rectangle: Rounded Corners 15">
            <a:extLst>
              <a:ext uri="{FF2B5EF4-FFF2-40B4-BE49-F238E27FC236}">
                <a16:creationId xmlns:a16="http://schemas.microsoft.com/office/drawing/2014/main" id="{F59C072F-DFD3-0FBD-7C1E-F6FE694C4221}"/>
              </a:ext>
            </a:extLst>
          </p:cNvPr>
          <p:cNvSpPr/>
          <p:nvPr/>
        </p:nvSpPr>
        <p:spPr>
          <a:xfrm>
            <a:off x="635396" y="4301143"/>
            <a:ext cx="17398606" cy="818889"/>
          </a:xfrm>
          <a:prstGeom prst="roundRect">
            <a:avLst/>
          </a:prstGeom>
          <a:solidFill>
            <a:srgbClr val="012169"/>
          </a:solidFill>
          <a:ln>
            <a:solidFill>
              <a:srgbClr val="0121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a:latin typeface="Times New Roman"/>
                <a:cs typeface="Calibri"/>
              </a:rPr>
              <a:t>Background</a:t>
            </a:r>
            <a:endParaRPr lang="en-US" sz="3600">
              <a:latin typeface="Times New Roman"/>
            </a:endParaRPr>
          </a:p>
        </p:txBody>
      </p:sp>
      <p:sp>
        <p:nvSpPr>
          <p:cNvPr id="18" name="Rectangle 17">
            <a:extLst>
              <a:ext uri="{FF2B5EF4-FFF2-40B4-BE49-F238E27FC236}">
                <a16:creationId xmlns:a16="http://schemas.microsoft.com/office/drawing/2014/main" id="{65487F45-6F90-E5A9-8E66-8BE0997C9DFC}"/>
              </a:ext>
            </a:extLst>
          </p:cNvPr>
          <p:cNvSpPr>
            <a:spLocks/>
          </p:cNvSpPr>
          <p:nvPr/>
        </p:nvSpPr>
        <p:spPr>
          <a:xfrm>
            <a:off x="318164" y="17612139"/>
            <a:ext cx="18113434" cy="14824642"/>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0FAE4E4-0F10-64F6-604E-02D631B2A13A}"/>
              </a:ext>
            </a:extLst>
          </p:cNvPr>
          <p:cNvSpPr/>
          <p:nvPr/>
        </p:nvSpPr>
        <p:spPr>
          <a:xfrm>
            <a:off x="31920634" y="23683669"/>
            <a:ext cx="11691539" cy="8753113"/>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96EC5E0-1527-3579-D94D-C6706494768B}"/>
              </a:ext>
            </a:extLst>
          </p:cNvPr>
          <p:cNvSpPr>
            <a:spLocks noGrp="1" noRot="1" noMove="1" noResize="1" noEditPoints="1" noAdjustHandles="1" noChangeArrowheads="1" noChangeShapeType="1"/>
          </p:cNvSpPr>
          <p:nvPr/>
        </p:nvSpPr>
        <p:spPr>
          <a:xfrm>
            <a:off x="18741125" y="23683669"/>
            <a:ext cx="12757160" cy="8753113"/>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CD0D81A-1A88-3D4D-746C-91969AA8DD4E}"/>
              </a:ext>
            </a:extLst>
          </p:cNvPr>
          <p:cNvSpPr txBox="1"/>
          <p:nvPr/>
        </p:nvSpPr>
        <p:spPr>
          <a:xfrm>
            <a:off x="32230161" y="28484184"/>
            <a:ext cx="11094989" cy="16185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latin typeface="Times New Roman"/>
                <a:cs typeface="Times New Roman"/>
              </a:rPr>
              <a:t>This material is based upon work supported by the National Institute of Environmental Health Sciences Under Grant No. P42ES010356</a:t>
            </a:r>
            <a:endParaRPr lang="en-US" sz="7200"/>
          </a:p>
        </p:txBody>
      </p:sp>
      <p:sp>
        <p:nvSpPr>
          <p:cNvPr id="3" name="Rectangle: Rounded Corners 2">
            <a:extLst>
              <a:ext uri="{FF2B5EF4-FFF2-40B4-BE49-F238E27FC236}">
                <a16:creationId xmlns:a16="http://schemas.microsoft.com/office/drawing/2014/main" id="{28BC14F3-7CF8-2C42-7005-A06F5C39B99B}"/>
              </a:ext>
            </a:extLst>
          </p:cNvPr>
          <p:cNvSpPr/>
          <p:nvPr/>
        </p:nvSpPr>
        <p:spPr>
          <a:xfrm>
            <a:off x="633713" y="17940199"/>
            <a:ext cx="17400289" cy="856448"/>
          </a:xfrm>
          <a:prstGeom prst="roundRect">
            <a:avLst/>
          </a:prstGeom>
          <a:solidFill>
            <a:srgbClr val="012169"/>
          </a:solidFill>
          <a:ln>
            <a:solidFill>
              <a:srgbClr val="0121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a:latin typeface="Times New Roman"/>
              </a:rPr>
              <a:t>Methods</a:t>
            </a:r>
          </a:p>
        </p:txBody>
      </p:sp>
      <p:sp>
        <p:nvSpPr>
          <p:cNvPr id="6" name="Rectangle: Rounded Corners 5">
            <a:extLst>
              <a:ext uri="{FF2B5EF4-FFF2-40B4-BE49-F238E27FC236}">
                <a16:creationId xmlns:a16="http://schemas.microsoft.com/office/drawing/2014/main" id="{1B3838D7-5416-AF44-22C5-E70BB9D651FE}"/>
              </a:ext>
            </a:extLst>
          </p:cNvPr>
          <p:cNvSpPr/>
          <p:nvPr/>
        </p:nvSpPr>
        <p:spPr>
          <a:xfrm>
            <a:off x="32104557" y="23912610"/>
            <a:ext cx="11323695" cy="819375"/>
          </a:xfrm>
          <a:prstGeom prst="roundRect">
            <a:avLst/>
          </a:prstGeom>
          <a:solidFill>
            <a:srgbClr val="012169"/>
          </a:solidFill>
          <a:ln>
            <a:solidFill>
              <a:srgbClr val="0121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a:latin typeface="Times New Roman"/>
                <a:cs typeface="Calibri"/>
              </a:rPr>
              <a:t>References and Acknowledgements</a:t>
            </a:r>
            <a:endParaRPr lang="en-US" sz="4800">
              <a:latin typeface="Times New Roman"/>
            </a:endParaRPr>
          </a:p>
        </p:txBody>
      </p:sp>
      <p:sp>
        <p:nvSpPr>
          <p:cNvPr id="7" name="Rectangle: Rounded Corners 6">
            <a:extLst>
              <a:ext uri="{FF2B5EF4-FFF2-40B4-BE49-F238E27FC236}">
                <a16:creationId xmlns:a16="http://schemas.microsoft.com/office/drawing/2014/main" id="{79F11FCC-0B90-DB6B-0DD2-79E414B947C5}"/>
              </a:ext>
            </a:extLst>
          </p:cNvPr>
          <p:cNvSpPr/>
          <p:nvPr/>
        </p:nvSpPr>
        <p:spPr>
          <a:xfrm>
            <a:off x="19253200" y="23912609"/>
            <a:ext cx="11960046" cy="819375"/>
          </a:xfrm>
          <a:prstGeom prst="roundRect">
            <a:avLst/>
          </a:prstGeom>
          <a:solidFill>
            <a:srgbClr val="012169"/>
          </a:solidFill>
          <a:ln>
            <a:solidFill>
              <a:srgbClr val="0121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a:latin typeface="Times New Roman"/>
                <a:cs typeface="Calibri"/>
              </a:rPr>
              <a:t>Future Directions</a:t>
            </a:r>
            <a:endParaRPr lang="en-US" sz="4800">
              <a:latin typeface="Times New Roman"/>
            </a:endParaRPr>
          </a:p>
        </p:txBody>
      </p:sp>
      <p:sp>
        <p:nvSpPr>
          <p:cNvPr id="8" name="Rectangle: Rounded Corners 15">
            <a:extLst>
              <a:ext uri="{FF2B5EF4-FFF2-40B4-BE49-F238E27FC236}">
                <a16:creationId xmlns:a16="http://schemas.microsoft.com/office/drawing/2014/main" id="{74DE4399-B393-E7B3-4966-5DEB3AAC6FDF}"/>
              </a:ext>
            </a:extLst>
          </p:cNvPr>
          <p:cNvSpPr/>
          <p:nvPr/>
        </p:nvSpPr>
        <p:spPr>
          <a:xfrm>
            <a:off x="18974894" y="4271563"/>
            <a:ext cx="24235094" cy="894360"/>
          </a:xfrm>
          <a:prstGeom prst="roundRect">
            <a:avLst/>
          </a:prstGeom>
          <a:solidFill>
            <a:srgbClr val="012169"/>
          </a:solidFill>
          <a:ln>
            <a:solidFill>
              <a:srgbClr val="0121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a:latin typeface="Times New Roman"/>
                <a:cs typeface="Calibri"/>
              </a:rPr>
              <a:t>Results</a:t>
            </a:r>
            <a:endParaRPr lang="en-US" sz="3600">
              <a:latin typeface="Times New Roman"/>
            </a:endParaRPr>
          </a:p>
        </p:txBody>
      </p:sp>
      <p:sp>
        <p:nvSpPr>
          <p:cNvPr id="10" name="TextBox 9">
            <a:extLst>
              <a:ext uri="{FF2B5EF4-FFF2-40B4-BE49-F238E27FC236}">
                <a16:creationId xmlns:a16="http://schemas.microsoft.com/office/drawing/2014/main" id="{F68DA015-58F1-3696-CC00-A630797317D2}"/>
              </a:ext>
            </a:extLst>
          </p:cNvPr>
          <p:cNvSpPr txBox="1"/>
          <p:nvPr/>
        </p:nvSpPr>
        <p:spPr>
          <a:xfrm>
            <a:off x="702890" y="5271724"/>
            <a:ext cx="17398606" cy="6678751"/>
          </a:xfrm>
          <a:prstGeom prst="rect">
            <a:avLst/>
          </a:prstGeom>
          <a:noFill/>
        </p:spPr>
        <p:txBody>
          <a:bodyPr wrap="square" lIns="91440" tIns="45720" rIns="91440" bIns="45720" rtlCol="0" anchor="t">
            <a:spAutoFit/>
          </a:bodyPr>
          <a:lstStyle/>
          <a:p>
            <a:pPr algn="just">
              <a:spcAft>
                <a:spcPts val="600"/>
              </a:spcAft>
            </a:pPr>
            <a:r>
              <a:rPr lang="en-US" sz="3800">
                <a:latin typeface="Times New Roman" panose="02020603050405020304" pitchFamily="18" charset="0"/>
                <a:cs typeface="Times New Roman" panose="02020603050405020304" pitchFamily="18" charset="0"/>
              </a:rPr>
              <a:t>EPA Superfund sites classify locations with hazardous levels of containments, posing potential health risks to humans and the environment</a:t>
            </a:r>
            <a:r>
              <a:rPr lang="en-US" sz="3800" baseline="30000">
                <a:latin typeface="Times New Roman" panose="02020603050405020304" pitchFamily="18" charset="0"/>
                <a:cs typeface="Times New Roman" panose="02020603050405020304" pitchFamily="18" charset="0"/>
              </a:rPr>
              <a:t>[1]. </a:t>
            </a:r>
            <a:r>
              <a:rPr lang="en-US" sz="3800">
                <a:latin typeface="Times New Roman" panose="02020603050405020304" pitchFamily="18" charset="0"/>
                <a:cs typeface="Times New Roman" panose="02020603050405020304" pitchFamily="18" charset="0"/>
              </a:rPr>
              <a:t>PAHs are a group of chemicals often found at Superfund sites due to their mutagenic and carcinogenic properties</a:t>
            </a:r>
            <a:r>
              <a:rPr lang="en-US" sz="3800" baseline="30000">
                <a:latin typeface="Times New Roman" panose="02020603050405020304" pitchFamily="18" charset="0"/>
                <a:cs typeface="Times New Roman" panose="02020603050405020304" pitchFamily="18" charset="0"/>
              </a:rPr>
              <a:t>[2,3]</a:t>
            </a:r>
            <a:r>
              <a:rPr lang="en-US" sz="3800">
                <a:latin typeface="Times New Roman" panose="02020603050405020304" pitchFamily="18" charset="0"/>
                <a:cs typeface="Times New Roman" panose="02020603050405020304" pitchFamily="18" charset="0"/>
              </a:rPr>
              <a:t>.</a:t>
            </a:r>
          </a:p>
          <a:p>
            <a:pPr algn="just">
              <a:spcAft>
                <a:spcPts val="600"/>
              </a:spcAft>
            </a:pPr>
            <a:r>
              <a:rPr lang="en-US" sz="3800">
                <a:latin typeface="Times New Roman" panose="02020603050405020304" pitchFamily="18" charset="0"/>
                <a:cs typeface="Times New Roman" panose="02020603050405020304" pitchFamily="18" charset="0"/>
              </a:rPr>
              <a:t>There are numerous strategies implemented to remediate PAH contamination, many being ecologically intrusive</a:t>
            </a:r>
            <a:r>
              <a:rPr lang="en-US" sz="3800" baseline="30000">
                <a:latin typeface="Times New Roman" panose="02020603050405020304" pitchFamily="18" charset="0"/>
                <a:cs typeface="Times New Roman" panose="02020603050405020304" pitchFamily="18" charset="0"/>
              </a:rPr>
              <a:t>[4]</a:t>
            </a:r>
            <a:r>
              <a:rPr lang="en-US" sz="3800">
                <a:latin typeface="Times New Roman" panose="02020603050405020304" pitchFamily="18" charset="0"/>
                <a:cs typeface="Times New Roman" panose="02020603050405020304" pitchFamily="18" charset="0"/>
              </a:rPr>
              <a:t>. A sustainable and cost-effective alternative is mycoremediation. However, minimal success in PAH degradation has been seen due to planktonic microbes not properly establishing within the novel environment</a:t>
            </a:r>
            <a:r>
              <a:rPr lang="en-US" sz="3800" baseline="30000">
                <a:latin typeface="Times New Roman" panose="02020603050405020304" pitchFamily="18" charset="0"/>
                <a:cs typeface="Times New Roman" panose="02020603050405020304" pitchFamily="18" charset="0"/>
              </a:rPr>
              <a:t>[5]</a:t>
            </a:r>
            <a:r>
              <a:rPr lang="en-US" sz="3800">
                <a:latin typeface="Times New Roman" panose="02020603050405020304" pitchFamily="18" charset="0"/>
                <a:cs typeface="Times New Roman" panose="02020603050405020304" pitchFamily="18" charset="0"/>
              </a:rPr>
              <a:t>.</a:t>
            </a:r>
          </a:p>
          <a:p>
            <a:pPr algn="just">
              <a:spcAft>
                <a:spcPts val="600"/>
              </a:spcAft>
            </a:pPr>
            <a:r>
              <a:rPr lang="en-US" sz="3800">
                <a:latin typeface="Times New Roman"/>
                <a:cs typeface="Times New Roman"/>
              </a:rPr>
              <a:t>This project utilizes known PAH degrading microbes isolated from a PAH contaminated Superfund site</a:t>
            </a:r>
            <a:r>
              <a:rPr lang="en-US" sz="3800" baseline="30000">
                <a:latin typeface="Times New Roman"/>
                <a:cs typeface="Times New Roman"/>
              </a:rPr>
              <a:t>[6]</a:t>
            </a:r>
            <a:r>
              <a:rPr lang="en-US" sz="3800">
                <a:latin typeface="Times New Roman"/>
                <a:cs typeface="Times New Roman"/>
              </a:rPr>
              <a:t>. Though this project, we aim to develop methods to encapsulate fungal genera  and quantify growth and viability. Ultimately, this research will work to promote the survival and delivery of PAH degrading microbes back into the environment</a:t>
            </a:r>
            <a:r>
              <a:rPr lang="en-US" sz="3800" baseline="30000">
                <a:latin typeface="Times New Roman"/>
                <a:cs typeface="Times New Roman"/>
              </a:rPr>
              <a:t>[7]</a:t>
            </a:r>
            <a:endParaRPr lang="en-US" sz="3800">
              <a:latin typeface="Times New Roman"/>
              <a:cs typeface="Times New Roman"/>
            </a:endParaRPr>
          </a:p>
        </p:txBody>
      </p:sp>
      <p:sp>
        <p:nvSpPr>
          <p:cNvPr id="21" name="TextBox 20">
            <a:extLst>
              <a:ext uri="{FF2B5EF4-FFF2-40B4-BE49-F238E27FC236}">
                <a16:creationId xmlns:a16="http://schemas.microsoft.com/office/drawing/2014/main" id="{FEC56C7F-5B75-1742-6834-B3834B4FDB58}"/>
              </a:ext>
            </a:extLst>
          </p:cNvPr>
          <p:cNvSpPr txBox="1"/>
          <p:nvPr/>
        </p:nvSpPr>
        <p:spPr>
          <a:xfrm>
            <a:off x="679344" y="18916884"/>
            <a:ext cx="9008970" cy="14080778"/>
          </a:xfrm>
          <a:prstGeom prst="rect">
            <a:avLst/>
          </a:prstGeom>
          <a:noFill/>
        </p:spPr>
        <p:txBody>
          <a:bodyPr wrap="square" lIns="91440" tIns="45720" rIns="91440" bIns="45720" rtlCol="0" anchor="t">
            <a:spAutoFit/>
          </a:bodyPr>
          <a:lstStyle/>
          <a:p>
            <a:pPr algn="just">
              <a:spcAft>
                <a:spcPts val="600"/>
              </a:spcAft>
            </a:pPr>
            <a:r>
              <a:rPr lang="en-US" sz="3800" b="1">
                <a:latin typeface="Times New Roman" panose="02020603050405020304" pitchFamily="18" charset="0"/>
                <a:cs typeface="Times New Roman" panose="02020603050405020304" pitchFamily="18" charset="0"/>
              </a:rPr>
              <a:t>Monocultures</a:t>
            </a:r>
          </a:p>
          <a:p>
            <a:pPr algn="just">
              <a:spcAft>
                <a:spcPts val="600"/>
              </a:spcAft>
            </a:pPr>
            <a:r>
              <a:rPr lang="en-US" sz="3800" b="0" i="0" u="none" strike="noStrike">
                <a:solidFill>
                  <a:srgbClr val="000000"/>
                </a:solidFill>
                <a:effectLst/>
                <a:latin typeface="Times New Roman"/>
                <a:cs typeface="Times New Roman"/>
              </a:rPr>
              <a:t>Fungal isolates were previously isolated from </a:t>
            </a:r>
            <a:r>
              <a:rPr lang="en-US" sz="3800">
                <a:solidFill>
                  <a:srgbClr val="000000"/>
                </a:solidFill>
                <a:latin typeface="Times New Roman"/>
                <a:cs typeface="Times New Roman"/>
              </a:rPr>
              <a:t>sediments</a:t>
            </a:r>
            <a:r>
              <a:rPr lang="en-US" sz="3800" b="0" i="0" u="none" strike="noStrike">
                <a:solidFill>
                  <a:srgbClr val="000000"/>
                </a:solidFill>
                <a:effectLst/>
                <a:latin typeface="Times New Roman"/>
                <a:cs typeface="Times New Roman"/>
              </a:rPr>
              <a:t> of the Elizabeth River</a:t>
            </a:r>
            <a:r>
              <a:rPr lang="en-US" sz="3800">
                <a:solidFill>
                  <a:srgbClr val="000000"/>
                </a:solidFill>
                <a:latin typeface="Times New Roman"/>
                <a:cs typeface="Times New Roman"/>
              </a:rPr>
              <a:t>, Virgina.</a:t>
            </a:r>
            <a:r>
              <a:rPr lang="en-US" sz="3800" b="0" i="0" u="none" strike="noStrike">
                <a:solidFill>
                  <a:srgbClr val="000000"/>
                </a:solidFill>
                <a:effectLst/>
                <a:latin typeface="Times New Roman"/>
                <a:cs typeface="Times New Roman"/>
              </a:rPr>
              <a:t> From the isolates, </a:t>
            </a:r>
            <a:r>
              <a:rPr lang="en-US" sz="3800">
                <a:solidFill>
                  <a:srgbClr val="000000"/>
                </a:solidFill>
                <a:latin typeface="Times New Roman"/>
                <a:cs typeface="Times New Roman"/>
              </a:rPr>
              <a:t>select strains from </a:t>
            </a:r>
            <a:r>
              <a:rPr lang="en-US" sz="3800" b="0" i="1" u="none" strike="noStrike">
                <a:solidFill>
                  <a:srgbClr val="000000"/>
                </a:solidFill>
                <a:effectLst/>
                <a:latin typeface="Times New Roman"/>
                <a:cs typeface="Times New Roman"/>
              </a:rPr>
              <a:t>Trichoderma</a:t>
            </a:r>
            <a:r>
              <a:rPr lang="en-US" sz="3800" b="0" i="0" u="none" strike="noStrike">
                <a:solidFill>
                  <a:srgbClr val="000000"/>
                </a:solidFill>
                <a:effectLst/>
                <a:latin typeface="Times New Roman"/>
                <a:cs typeface="Times New Roman"/>
              </a:rPr>
              <a:t> and </a:t>
            </a:r>
            <a:r>
              <a:rPr lang="en-US" sz="3800" b="0" i="1" u="none" strike="noStrike">
                <a:solidFill>
                  <a:srgbClr val="000000"/>
                </a:solidFill>
                <a:effectLst/>
                <a:latin typeface="Times New Roman"/>
                <a:cs typeface="Times New Roman"/>
              </a:rPr>
              <a:t>Aureobasidium</a:t>
            </a:r>
            <a:r>
              <a:rPr lang="en-US" sz="3800" b="0" i="0" u="none" strike="noStrike">
                <a:solidFill>
                  <a:srgbClr val="000000"/>
                </a:solidFill>
                <a:effectLst/>
                <a:latin typeface="Times New Roman"/>
                <a:cs typeface="Times New Roman"/>
              </a:rPr>
              <a:t> </a:t>
            </a:r>
            <a:r>
              <a:rPr lang="en-US" sz="3800">
                <a:solidFill>
                  <a:srgbClr val="000000"/>
                </a:solidFill>
                <a:latin typeface="Times New Roman"/>
                <a:cs typeface="Times New Roman"/>
              </a:rPr>
              <a:t>genera </a:t>
            </a:r>
            <a:r>
              <a:rPr lang="en-US" sz="3800" b="0" i="0" u="none" strike="noStrike">
                <a:solidFill>
                  <a:srgbClr val="000000"/>
                </a:solidFill>
                <a:effectLst/>
                <a:latin typeface="Times New Roman"/>
                <a:cs typeface="Times New Roman"/>
              </a:rPr>
              <a:t>were selected for their differing morphologies and known PAH degrading capabilities.</a:t>
            </a:r>
            <a:endParaRPr lang="en-US" sz="2000">
              <a:latin typeface="Times New Roman"/>
              <a:cs typeface="Times New Roman"/>
            </a:endParaRPr>
          </a:p>
          <a:p>
            <a:pPr algn="just">
              <a:spcAft>
                <a:spcPts val="600"/>
              </a:spcAft>
            </a:pPr>
            <a:r>
              <a:rPr lang="en-US" sz="3800" b="0" i="0" u="none" strike="noStrike">
                <a:solidFill>
                  <a:srgbClr val="000000"/>
                </a:solidFill>
                <a:effectLst/>
                <a:latin typeface="Times New Roman"/>
                <a:cs typeface="Times New Roman"/>
              </a:rPr>
              <a:t>Monocultures were then grown in Malt Extract (ME) </a:t>
            </a:r>
            <a:r>
              <a:rPr lang="en-US" sz="3800">
                <a:solidFill>
                  <a:srgbClr val="000000"/>
                </a:solidFill>
                <a:latin typeface="Times New Roman"/>
                <a:cs typeface="Times New Roman"/>
              </a:rPr>
              <a:t>medium</a:t>
            </a:r>
            <a:r>
              <a:rPr lang="en-US" sz="3800" b="0" i="0" u="none" strike="noStrike">
                <a:solidFill>
                  <a:srgbClr val="000000"/>
                </a:solidFill>
                <a:effectLst/>
                <a:latin typeface="Times New Roman"/>
                <a:cs typeface="Times New Roman"/>
              </a:rPr>
              <a:t> at 30</a:t>
            </a:r>
            <a:r>
              <a:rPr lang="en-US" sz="3400">
                <a:solidFill>
                  <a:srgbClr val="333333"/>
                </a:solidFill>
                <a:latin typeface="system-ui"/>
              </a:rPr>
              <a:t>°</a:t>
            </a:r>
            <a:r>
              <a:rPr lang="en-US" sz="3800" b="0" i="0" u="none" strike="noStrike">
                <a:solidFill>
                  <a:srgbClr val="000000"/>
                </a:solidFill>
                <a:effectLst/>
                <a:latin typeface="Times New Roman"/>
                <a:cs typeface="Times New Roman"/>
              </a:rPr>
              <a:t>C as both </a:t>
            </a:r>
            <a:r>
              <a:rPr lang="en-US" sz="3800">
                <a:solidFill>
                  <a:srgbClr val="000000"/>
                </a:solidFill>
                <a:latin typeface="Times New Roman"/>
                <a:cs typeface="Times New Roman"/>
              </a:rPr>
              <a:t>free living</a:t>
            </a:r>
            <a:r>
              <a:rPr lang="en-US" sz="3800" b="0" i="0" u="none" strike="noStrike">
                <a:solidFill>
                  <a:srgbClr val="000000"/>
                </a:solidFill>
                <a:effectLst/>
                <a:latin typeface="Times New Roman"/>
                <a:cs typeface="Times New Roman"/>
              </a:rPr>
              <a:t> and encapsulated cultures. </a:t>
            </a:r>
            <a:endParaRPr lang="en-US" sz="3800">
              <a:latin typeface="Times New Roman"/>
              <a:cs typeface="Times New Roman"/>
            </a:endParaRPr>
          </a:p>
          <a:p>
            <a:pPr algn="just">
              <a:spcAft>
                <a:spcPts val="600"/>
              </a:spcAft>
            </a:pPr>
            <a:r>
              <a:rPr lang="en-US" sz="3800" b="1">
                <a:latin typeface="Times New Roman"/>
                <a:cs typeface="Times New Roman"/>
              </a:rPr>
              <a:t>Fungal Encapsulation</a:t>
            </a:r>
            <a:endParaRPr lang="en-US"/>
          </a:p>
          <a:p>
            <a:pPr algn="just">
              <a:spcAft>
                <a:spcPts val="600"/>
              </a:spcAft>
            </a:pPr>
            <a:r>
              <a:rPr lang="en-US" sz="3800">
                <a:latin typeface="Times New Roman" panose="02020603050405020304" pitchFamily="18" charset="0"/>
                <a:cs typeface="Times New Roman" panose="02020603050405020304" pitchFamily="18" charset="0"/>
              </a:rPr>
              <a:t>Capsules were generated via extrusion using a 1% sodium alginate solution and 10% bacterial culture through a 30G needed into 0.1M calcium chloride bath</a:t>
            </a:r>
            <a:r>
              <a:rPr lang="en-US" sz="3800" baseline="30000">
                <a:latin typeface="Times New Roman" panose="02020603050405020304" pitchFamily="18" charset="0"/>
                <a:cs typeface="Times New Roman" panose="02020603050405020304" pitchFamily="18" charset="0"/>
              </a:rPr>
              <a:t>[8]</a:t>
            </a:r>
            <a:r>
              <a:rPr lang="en-US" sz="3800">
                <a:latin typeface="Times New Roman" panose="02020603050405020304" pitchFamily="18" charset="0"/>
                <a:cs typeface="Times New Roman" panose="02020603050405020304" pitchFamily="18" charset="0"/>
              </a:rPr>
              <a:t> </a:t>
            </a:r>
          </a:p>
          <a:p>
            <a:pPr algn="just">
              <a:spcAft>
                <a:spcPts val="600"/>
              </a:spcAft>
            </a:pPr>
            <a:r>
              <a:rPr lang="en-US" sz="3800" b="1">
                <a:latin typeface="Times New Roman" panose="02020603050405020304" pitchFamily="18" charset="0"/>
                <a:cs typeface="Times New Roman" panose="02020603050405020304" pitchFamily="18" charset="0"/>
              </a:rPr>
              <a:t>Measuring Growth</a:t>
            </a:r>
          </a:p>
          <a:p>
            <a:pPr algn="just">
              <a:spcAft>
                <a:spcPts val="600"/>
              </a:spcAft>
            </a:pPr>
            <a:r>
              <a:rPr lang="en-US" sz="3800">
                <a:latin typeface="Times New Roman"/>
                <a:cs typeface="Times New Roman"/>
              </a:rPr>
              <a:t>OD405 was used to measure fungal growth of the medium surrounding the capsule to quantify the release of fungi. Capsules were dissolved in sodium citrate and plated to quantify the total fungal concentration</a:t>
            </a:r>
            <a:r>
              <a:rPr lang="en-US" sz="3800" baseline="30000">
                <a:latin typeface="Times New Roman"/>
                <a:cs typeface="Times New Roman"/>
              </a:rPr>
              <a:t>[9]</a:t>
            </a:r>
            <a:endParaRPr lang="en-US" sz="3800">
              <a:latin typeface="Times New Roman"/>
              <a:cs typeface="Times New Roman"/>
            </a:endParaRPr>
          </a:p>
          <a:p>
            <a:pPr algn="just">
              <a:spcAft>
                <a:spcPts val="600"/>
              </a:spcAft>
            </a:pPr>
            <a:endParaRPr lang="en-US" sz="380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3FE47EFE-1D8F-15B1-683C-997830F49E7E}"/>
              </a:ext>
            </a:extLst>
          </p:cNvPr>
          <p:cNvSpPr txBox="1">
            <a:spLocks noGrp="1" noRot="1" noMove="1" noResize="1" noEditPoints="1" noAdjustHandles="1" noChangeArrowheads="1" noChangeShapeType="1"/>
          </p:cNvSpPr>
          <p:nvPr/>
        </p:nvSpPr>
        <p:spPr>
          <a:xfrm>
            <a:off x="19214404" y="24917123"/>
            <a:ext cx="11960046" cy="6832640"/>
          </a:xfrm>
          <a:prstGeom prst="rect">
            <a:avLst/>
          </a:prstGeom>
          <a:noFill/>
        </p:spPr>
        <p:txBody>
          <a:bodyPr wrap="square" lIns="91440" tIns="45720" rIns="91440" bIns="45720" rtlCol="0" anchor="t">
            <a:spAutoFit/>
          </a:bodyPr>
          <a:lstStyle/>
          <a:p>
            <a:pPr marL="571500" indent="-571500">
              <a:spcAft>
                <a:spcPts val="600"/>
              </a:spcAft>
              <a:buFont typeface="Arial" panose="020B0604020202020204" pitchFamily="34" charset="0"/>
              <a:buChar char="•"/>
            </a:pPr>
            <a:r>
              <a:rPr lang="en-US" sz="3800">
                <a:latin typeface="Times New Roman"/>
                <a:cs typeface="Times New Roman"/>
              </a:rPr>
              <a:t>Spike in model PAHs to encapsulated and planktonic monocultures to observe changes in PAH degradation</a:t>
            </a:r>
          </a:p>
          <a:p>
            <a:pPr marL="571500" indent="-571500">
              <a:spcAft>
                <a:spcPts val="600"/>
              </a:spcAft>
              <a:buFont typeface="Arial" panose="020B0604020202020204" pitchFamily="34" charset="0"/>
              <a:buChar char="•"/>
            </a:pPr>
            <a:r>
              <a:rPr lang="en-US" sz="3800">
                <a:latin typeface="Times New Roman" panose="02020603050405020304" pitchFamily="18" charset="0"/>
                <a:cs typeface="Times New Roman" panose="02020603050405020304" pitchFamily="18" charset="0"/>
              </a:rPr>
              <a:t>Inoculate PAH degrading micro-communities from Elizabeth River sediment. </a:t>
            </a:r>
          </a:p>
          <a:p>
            <a:pPr marL="571500" indent="-571500">
              <a:spcAft>
                <a:spcPts val="600"/>
              </a:spcAft>
              <a:buFont typeface="Arial" panose="020B0604020202020204" pitchFamily="34" charset="0"/>
              <a:buChar char="•"/>
            </a:pPr>
            <a:r>
              <a:rPr lang="en-US" sz="3800">
                <a:latin typeface="Times New Roman" panose="02020603050405020304" pitchFamily="18" charset="0"/>
                <a:cs typeface="Times New Roman" panose="02020603050405020304" pitchFamily="18" charset="0"/>
              </a:rPr>
              <a:t>Encapsulate micro-community and compare viability, community resilience, and PAH degradation to the planktonic counterpart.</a:t>
            </a:r>
          </a:p>
          <a:p>
            <a:pPr marL="571500" indent="-571500">
              <a:spcAft>
                <a:spcPts val="600"/>
              </a:spcAft>
              <a:buFont typeface="Arial" panose="020B0604020202020204" pitchFamily="34" charset="0"/>
              <a:buChar char="•"/>
            </a:pPr>
            <a:r>
              <a:rPr lang="en-US" sz="3800">
                <a:latin typeface="Times New Roman" panose="02020603050405020304" pitchFamily="18" charset="0"/>
                <a:cs typeface="Times New Roman" panose="02020603050405020304" pitchFamily="18" charset="0"/>
              </a:rPr>
              <a:t>Spike in </a:t>
            </a:r>
            <a:r>
              <a:rPr lang="en-US" sz="3800" i="1">
                <a:latin typeface="Times New Roman" panose="02020603050405020304" pitchFamily="18" charset="0"/>
                <a:cs typeface="Times New Roman" panose="02020603050405020304" pitchFamily="18" charset="0"/>
              </a:rPr>
              <a:t>Bacillus Velezensis</a:t>
            </a:r>
            <a:r>
              <a:rPr lang="en-US" sz="3800">
                <a:latin typeface="Times New Roman" panose="02020603050405020304" pitchFamily="18" charset="0"/>
                <a:cs typeface="Times New Roman" panose="02020603050405020304" pitchFamily="18" charset="0"/>
              </a:rPr>
              <a:t> to the micro-community and track how PAH degradation differs</a:t>
            </a:r>
          </a:p>
          <a:p>
            <a:pPr marL="571500" indent="-571500">
              <a:spcAft>
                <a:spcPts val="600"/>
              </a:spcAft>
              <a:buFont typeface="Arial" panose="020B0604020202020204" pitchFamily="34" charset="0"/>
              <a:buChar char="•"/>
            </a:pPr>
            <a:r>
              <a:rPr lang="en-US" sz="3800">
                <a:latin typeface="Times New Roman" panose="02020603050405020304" pitchFamily="18" charset="0"/>
                <a:cs typeface="Times New Roman" panose="02020603050405020304" pitchFamily="18" charset="0"/>
              </a:rPr>
              <a:t>Incorporate growth data into a model that helps predict the time frame needed for PAH degradation</a:t>
            </a:r>
          </a:p>
        </p:txBody>
      </p:sp>
      <p:pic>
        <p:nvPicPr>
          <p:cNvPr id="25" name="Picture 24" descr="A blue background with white hexagons&#10;&#10;Description automatically generated">
            <a:extLst>
              <a:ext uri="{FF2B5EF4-FFF2-40B4-BE49-F238E27FC236}">
                <a16:creationId xmlns:a16="http://schemas.microsoft.com/office/drawing/2014/main" id="{64FB07EF-1018-3763-9FBE-47BA1BC29010}"/>
              </a:ext>
            </a:extLst>
          </p:cNvPr>
          <p:cNvPicPr>
            <a:picLocks noChangeAspect="1"/>
          </p:cNvPicPr>
          <p:nvPr/>
        </p:nvPicPr>
        <p:blipFill rotWithShape="1">
          <a:blip r:embed="rId2">
            <a:extLst>
              <a:ext uri="{28A0092B-C50C-407E-A947-70E740481C1C}">
                <a14:useLocalDpi xmlns:a14="http://schemas.microsoft.com/office/drawing/2010/main" val="0"/>
              </a:ext>
            </a:extLst>
          </a:blip>
          <a:srcRect l="15808" t="53231" r="54116" b="15679"/>
          <a:stretch/>
        </p:blipFill>
        <p:spPr>
          <a:xfrm>
            <a:off x="1283425" y="320964"/>
            <a:ext cx="1330501" cy="962772"/>
          </a:xfrm>
          <a:prstGeom prst="rect">
            <a:avLst/>
          </a:prstGeom>
        </p:spPr>
      </p:pic>
      <p:pic>
        <p:nvPicPr>
          <p:cNvPr id="26" name="Picture 25" descr="A blue background with white hexagons&#10;&#10;Description automatically generated">
            <a:extLst>
              <a:ext uri="{FF2B5EF4-FFF2-40B4-BE49-F238E27FC236}">
                <a16:creationId xmlns:a16="http://schemas.microsoft.com/office/drawing/2014/main" id="{F9E36068-97CF-EC4C-ED7B-A5CDFD1F83AC}"/>
              </a:ext>
            </a:extLst>
          </p:cNvPr>
          <p:cNvPicPr>
            <a:picLocks noChangeAspect="1"/>
          </p:cNvPicPr>
          <p:nvPr/>
        </p:nvPicPr>
        <p:blipFill rotWithShape="1">
          <a:blip r:embed="rId2">
            <a:extLst>
              <a:ext uri="{28A0092B-C50C-407E-A947-70E740481C1C}">
                <a14:useLocalDpi xmlns:a14="http://schemas.microsoft.com/office/drawing/2010/main" val="0"/>
              </a:ext>
            </a:extLst>
          </a:blip>
          <a:srcRect l="47774" t="9513" r="34243" b="43415"/>
          <a:stretch/>
        </p:blipFill>
        <p:spPr>
          <a:xfrm rot="5400000">
            <a:off x="35352220" y="592182"/>
            <a:ext cx="1931008" cy="3538308"/>
          </a:xfrm>
          <a:prstGeom prst="rect">
            <a:avLst/>
          </a:prstGeom>
        </p:spPr>
      </p:pic>
      <p:pic>
        <p:nvPicPr>
          <p:cNvPr id="27" name="Picture 26" descr="A blue background with white hexagons&#10;&#10;Description automatically generated">
            <a:extLst>
              <a:ext uri="{FF2B5EF4-FFF2-40B4-BE49-F238E27FC236}">
                <a16:creationId xmlns:a16="http://schemas.microsoft.com/office/drawing/2014/main" id="{2CB29049-C500-DF3E-FB99-F3BA15632CAC}"/>
              </a:ext>
            </a:extLst>
          </p:cNvPr>
          <p:cNvPicPr>
            <a:picLocks noChangeAspect="1"/>
          </p:cNvPicPr>
          <p:nvPr/>
        </p:nvPicPr>
        <p:blipFill rotWithShape="1">
          <a:blip r:embed="rId2">
            <a:extLst>
              <a:ext uri="{28A0092B-C50C-407E-A947-70E740481C1C}">
                <a14:useLocalDpi xmlns:a14="http://schemas.microsoft.com/office/drawing/2010/main" val="0"/>
              </a:ext>
            </a:extLst>
          </a:blip>
          <a:srcRect l="15808" t="53231" r="54116" b="15679"/>
          <a:stretch/>
        </p:blipFill>
        <p:spPr>
          <a:xfrm>
            <a:off x="41277273" y="388617"/>
            <a:ext cx="1969939" cy="1425480"/>
          </a:xfrm>
          <a:prstGeom prst="rect">
            <a:avLst/>
          </a:prstGeom>
        </p:spPr>
      </p:pic>
      <p:sp>
        <p:nvSpPr>
          <p:cNvPr id="30" name="TextBox 29">
            <a:extLst>
              <a:ext uri="{FF2B5EF4-FFF2-40B4-BE49-F238E27FC236}">
                <a16:creationId xmlns:a16="http://schemas.microsoft.com/office/drawing/2014/main" id="{0239AE79-6F99-E81A-D01C-098AF596C661}"/>
              </a:ext>
            </a:extLst>
          </p:cNvPr>
          <p:cNvSpPr txBox="1"/>
          <p:nvPr/>
        </p:nvSpPr>
        <p:spPr>
          <a:xfrm>
            <a:off x="32244269" y="24883193"/>
            <a:ext cx="11183983" cy="3539430"/>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[1] US EPA (2023), Superfund [2] </a:t>
            </a:r>
            <a:r>
              <a:rPr lang="en-US" sz="2800" b="0" i="0" u="none" strike="noStrike">
                <a:solidFill>
                  <a:srgbClr val="000000"/>
                </a:solidFill>
                <a:effectLst/>
                <a:latin typeface="Times New Roman" panose="02020603050405020304" pitchFamily="18" charset="0"/>
                <a:cs typeface="Times New Roman" panose="02020603050405020304" pitchFamily="18" charset="0"/>
              </a:rPr>
              <a:t>Di Giulio, R. T., &amp; Clark, B. W. (2015). </a:t>
            </a:r>
            <a:r>
              <a:rPr lang="en-US" sz="2800" b="0" i="1" u="none" strike="noStrike">
                <a:solidFill>
                  <a:srgbClr val="000000"/>
                </a:solidFill>
                <a:effectLst/>
                <a:latin typeface="Times New Roman" panose="02020603050405020304" pitchFamily="18" charset="0"/>
                <a:cs typeface="Times New Roman" panose="02020603050405020304" pitchFamily="18" charset="0"/>
              </a:rPr>
              <a:t>J Tox and Env Health </a:t>
            </a:r>
            <a:r>
              <a:rPr lang="en-US" sz="2800">
                <a:latin typeface="Times New Roman" panose="02020603050405020304" pitchFamily="18" charset="0"/>
                <a:cs typeface="Times New Roman" panose="02020603050405020304" pitchFamily="18" charset="0"/>
              </a:rPr>
              <a:t> </a:t>
            </a:r>
            <a:r>
              <a:rPr lang="en-US" sz="2800" b="0" i="0" u="none" strike="noStrike">
                <a:solidFill>
                  <a:srgbClr val="000000"/>
                </a:solidFill>
                <a:effectLst/>
                <a:latin typeface="Times New Roman" panose="02020603050405020304" pitchFamily="18" charset="0"/>
                <a:cs typeface="Times New Roman" panose="02020603050405020304" pitchFamily="18" charset="0"/>
              </a:rPr>
              <a:t>[3] </a:t>
            </a:r>
            <a:r>
              <a:rPr lang="en-US" sz="2800" b="0" i="0" u="none" strike="noStrike" err="1">
                <a:solidFill>
                  <a:srgbClr val="000000"/>
                </a:solidFill>
                <a:effectLst/>
                <a:latin typeface="Times New Roman" panose="02020603050405020304" pitchFamily="18" charset="0"/>
                <a:cs typeface="Times New Roman" panose="02020603050405020304" pitchFamily="18" charset="0"/>
              </a:rPr>
              <a:t>Baek</a:t>
            </a:r>
            <a:r>
              <a:rPr lang="en-US" sz="2800" b="0" i="0" u="none" strike="noStrike">
                <a:solidFill>
                  <a:srgbClr val="000000"/>
                </a:solidFill>
                <a:effectLst/>
                <a:latin typeface="Times New Roman" panose="02020603050405020304" pitchFamily="18" charset="0"/>
                <a:cs typeface="Times New Roman" panose="02020603050405020304" pitchFamily="18" charset="0"/>
              </a:rPr>
              <a:t>, et al. (1991) </a:t>
            </a:r>
            <a:r>
              <a:rPr lang="en-US" sz="2800" b="0" i="1" u="none" strike="noStrike">
                <a:solidFill>
                  <a:srgbClr val="000000"/>
                </a:solidFill>
                <a:effectLst/>
                <a:latin typeface="Times New Roman" panose="02020603050405020304" pitchFamily="18" charset="0"/>
                <a:cs typeface="Times New Roman" panose="02020603050405020304" pitchFamily="18" charset="0"/>
              </a:rPr>
              <a:t>Water Air Soil </a:t>
            </a:r>
            <a:r>
              <a:rPr lang="en-US" sz="2800" b="0" i="1" u="none" strike="noStrike" err="1">
                <a:solidFill>
                  <a:srgbClr val="000000"/>
                </a:solidFill>
                <a:effectLst/>
                <a:latin typeface="Times New Roman" panose="02020603050405020304" pitchFamily="18" charset="0"/>
                <a:cs typeface="Times New Roman" panose="02020603050405020304" pitchFamily="18" charset="0"/>
              </a:rPr>
              <a:t>Pollut</a:t>
            </a:r>
            <a:r>
              <a:rPr lang="en-US" sz="2800" b="0" i="0" u="none" strike="noStrike">
                <a:solidFill>
                  <a:srgbClr val="000000"/>
                </a:solidFill>
                <a:effectLst/>
                <a:latin typeface="Times New Roman" panose="02020603050405020304" pitchFamily="18" charset="0"/>
                <a:cs typeface="Times New Roman" panose="02020603050405020304" pitchFamily="18" charset="0"/>
              </a:rPr>
              <a:t>. [4] Seo, J.-S., Keum, Y.-S., &amp; Li, Q. X. (2009). Bacterial Degradation of Aromatic Compounds. [5] </a:t>
            </a:r>
            <a:r>
              <a:rPr lang="en-US" sz="2800">
                <a:solidFill>
                  <a:srgbClr val="202124"/>
                </a:solidFill>
                <a:effectLst/>
                <a:latin typeface="Times New Roman" panose="02020603050405020304" pitchFamily="18" charset="0"/>
                <a:ea typeface="SimHei" panose="02010609060101010101" pitchFamily="49" charset="-122"/>
                <a:cs typeface="Times New Roman" panose="02020603050405020304" pitchFamily="18" charset="0"/>
              </a:rPr>
              <a:t>Omokhagbor Adams et al., (2020) </a:t>
            </a:r>
            <a:r>
              <a:rPr lang="en-US" sz="2800" i="1">
                <a:solidFill>
                  <a:srgbClr val="202124"/>
                </a:solidFill>
                <a:effectLst/>
                <a:latin typeface="Times New Roman" panose="02020603050405020304" pitchFamily="18" charset="0"/>
                <a:ea typeface="SimHei" panose="02010609060101010101" pitchFamily="49" charset="-122"/>
                <a:cs typeface="Times New Roman" panose="02020603050405020304" pitchFamily="18" charset="0"/>
              </a:rPr>
              <a:t>International Journal of Environmental Bioremediation &amp; Biodegradation</a:t>
            </a:r>
            <a:r>
              <a:rPr lang="en-US" sz="2800" i="1">
                <a:effectLst/>
                <a:latin typeface="Times New Roman" panose="02020603050405020304" pitchFamily="18" charset="0"/>
                <a:cs typeface="Times New Roman" panose="02020603050405020304" pitchFamily="18" charset="0"/>
              </a:rPr>
              <a:t> </a:t>
            </a:r>
            <a:r>
              <a:rPr lang="en-US" sz="2800">
                <a:effectLst/>
                <a:latin typeface="Times New Roman" panose="02020603050405020304" pitchFamily="18" charset="0"/>
                <a:cs typeface="Times New Roman" panose="02020603050405020304" pitchFamily="18" charset="0"/>
              </a:rPr>
              <a:t>[6]</a:t>
            </a:r>
            <a:r>
              <a:rPr lang="en-US" sz="2800" b="0" i="0" u="none" strike="noStrike">
                <a:solidFill>
                  <a:srgbClr val="000000"/>
                </a:solidFill>
                <a:effectLst/>
                <a:latin typeface="Times New Roman" panose="02020603050405020304" pitchFamily="18" charset="0"/>
                <a:cs typeface="Times New Roman" panose="02020603050405020304" pitchFamily="18" charset="0"/>
              </a:rPr>
              <a:t> Valdivia-Rivera, et al. (2021). </a:t>
            </a:r>
            <a:r>
              <a:rPr lang="en-US" sz="2800" b="0" i="1" u="none" strike="noStrike">
                <a:solidFill>
                  <a:srgbClr val="000000"/>
                </a:solidFill>
                <a:effectLst/>
                <a:latin typeface="Times New Roman" panose="02020603050405020304" pitchFamily="18" charset="0"/>
                <a:cs typeface="Times New Roman" panose="02020603050405020304" pitchFamily="18" charset="0"/>
              </a:rPr>
              <a:t>Reviews in Environmental Science and Bio/Technology</a:t>
            </a:r>
            <a:r>
              <a:rPr lang="en-US" sz="2800" b="0" i="0" u="none" strike="noStrike">
                <a:solidFill>
                  <a:srgbClr val="000000"/>
                </a:solidFill>
                <a:effectLst/>
                <a:latin typeface="Times New Roman" panose="02020603050405020304" pitchFamily="18" charset="0"/>
                <a:cs typeface="Times New Roman" panose="02020603050405020304" pitchFamily="18" charset="0"/>
              </a:rPr>
              <a:t>. [7] </a:t>
            </a:r>
            <a:r>
              <a:rPr lang="en-US" sz="2800" b="0" i="0" u="none" strike="noStrike" err="1">
                <a:solidFill>
                  <a:srgbClr val="000000"/>
                </a:solidFill>
                <a:effectLst/>
                <a:latin typeface="Times New Roman" panose="02020603050405020304" pitchFamily="18" charset="0"/>
                <a:cs typeface="Times New Roman" panose="02020603050405020304" pitchFamily="18" charset="0"/>
              </a:rPr>
              <a:t>Volkoff</a:t>
            </a:r>
            <a:r>
              <a:rPr lang="en-US" sz="2800" b="0" i="0" u="none" strike="noStrike">
                <a:solidFill>
                  <a:srgbClr val="000000"/>
                </a:solidFill>
                <a:effectLst/>
                <a:latin typeface="Times New Roman" panose="02020603050405020304" pitchFamily="18" charset="0"/>
                <a:cs typeface="Times New Roman" panose="02020603050405020304" pitchFamily="18" charset="0"/>
              </a:rPr>
              <a:t>, et al. (2019) </a:t>
            </a:r>
            <a:r>
              <a:rPr lang="en-US" sz="2800" b="0" i="1" u="none" strike="noStrike">
                <a:solidFill>
                  <a:srgbClr val="000000"/>
                </a:solidFill>
                <a:effectLst/>
                <a:latin typeface="Times New Roman" panose="02020603050405020304" pitchFamily="18" charset="0"/>
                <a:cs typeface="Times New Roman" panose="02020603050405020304" pitchFamily="18" charset="0"/>
              </a:rPr>
              <a:t>Duke University</a:t>
            </a:r>
            <a:r>
              <a:rPr lang="en-US" sz="2800" b="0" i="0" u="none" strike="noStrike">
                <a:solidFill>
                  <a:srgbClr val="000000"/>
                </a:solidFill>
                <a:effectLst/>
                <a:latin typeface="Times New Roman" panose="02020603050405020304" pitchFamily="18" charset="0"/>
                <a:cs typeface="Times New Roman" panose="02020603050405020304" pitchFamily="18" charset="0"/>
              </a:rPr>
              <a:t>. </a:t>
            </a:r>
            <a:r>
              <a:rPr lang="en-US" sz="2800">
                <a:solidFill>
                  <a:srgbClr val="000000"/>
                </a:solidFill>
                <a:latin typeface="Times New Roman" panose="02020603050405020304" pitchFamily="18" charset="0"/>
                <a:cs typeface="Times New Roman" panose="02020603050405020304" pitchFamily="18" charset="0"/>
              </a:rPr>
              <a:t>[8]</a:t>
            </a:r>
            <a:r>
              <a:rPr lang="en-US" sz="2800" b="0" i="0" u="none" strike="noStrike">
                <a:solidFill>
                  <a:srgbClr val="000000"/>
                </a:solidFill>
                <a:effectLst/>
                <a:latin typeface="Times New Roman" panose="02020603050405020304" pitchFamily="18" charset="0"/>
                <a:cs typeface="Times New Roman" panose="02020603050405020304" pitchFamily="18" charset="0"/>
              </a:rPr>
              <a:t> </a:t>
            </a:r>
            <a:r>
              <a:rPr lang="en-US" sz="2800" b="0" i="0" u="none" strike="noStrike" err="1">
                <a:solidFill>
                  <a:srgbClr val="000000"/>
                </a:solidFill>
                <a:effectLst/>
                <a:latin typeface="Times New Roman" panose="02020603050405020304" pitchFamily="18" charset="0"/>
                <a:cs typeface="Times New Roman" panose="02020603050405020304" pitchFamily="18" charset="0"/>
              </a:rPr>
              <a:t>Yueng</a:t>
            </a:r>
            <a:r>
              <a:rPr lang="en-US" sz="2800" b="0" i="0" u="none" strike="noStrike">
                <a:solidFill>
                  <a:srgbClr val="000000"/>
                </a:solidFill>
                <a:effectLst/>
                <a:latin typeface="Times New Roman" panose="02020603050405020304" pitchFamily="18" charset="0"/>
                <a:cs typeface="Times New Roman" panose="02020603050405020304" pitchFamily="18" charset="0"/>
              </a:rPr>
              <a:t>, et al. (2016) </a:t>
            </a:r>
            <a:r>
              <a:rPr lang="en-US" sz="2800" b="0" i="1" u="none" strike="noStrike">
                <a:solidFill>
                  <a:srgbClr val="000000"/>
                </a:solidFill>
                <a:effectLst/>
                <a:latin typeface="Times New Roman" panose="02020603050405020304" pitchFamily="18" charset="0"/>
                <a:cs typeface="Times New Roman" panose="02020603050405020304" pitchFamily="18" charset="0"/>
              </a:rPr>
              <a:t>Front. Microbial. </a:t>
            </a:r>
            <a:r>
              <a:rPr lang="en-US" sz="2800">
                <a:latin typeface="Times New Roman" panose="02020603050405020304" pitchFamily="18" charset="0"/>
                <a:cs typeface="Times New Roman" panose="02020603050405020304" pitchFamily="18" charset="0"/>
              </a:rPr>
              <a:t>[9] </a:t>
            </a:r>
            <a:r>
              <a:rPr lang="en-US" sz="2800" err="1">
                <a:latin typeface="Times New Roman" panose="02020603050405020304" pitchFamily="18" charset="0"/>
                <a:cs typeface="Times New Roman" panose="02020603050405020304" pitchFamily="18" charset="0"/>
              </a:rPr>
              <a:t>Meletiadis</a:t>
            </a:r>
            <a:r>
              <a:rPr lang="en-US" sz="2800">
                <a:latin typeface="Times New Roman" panose="02020603050405020304" pitchFamily="18" charset="0"/>
                <a:cs typeface="Times New Roman" panose="02020603050405020304" pitchFamily="18" charset="0"/>
              </a:rPr>
              <a:t>, et al. (2001) </a:t>
            </a:r>
            <a:r>
              <a:rPr lang="en-US" sz="2800" i="1">
                <a:latin typeface="Times New Roman" panose="02020603050405020304" pitchFamily="18" charset="0"/>
                <a:cs typeface="Times New Roman" panose="02020603050405020304" pitchFamily="18" charset="0"/>
              </a:rPr>
              <a:t>ASM Journals</a:t>
            </a:r>
          </a:p>
        </p:txBody>
      </p:sp>
      <p:sp>
        <p:nvSpPr>
          <p:cNvPr id="38" name="Rectangle 37">
            <a:extLst>
              <a:ext uri="{FF2B5EF4-FFF2-40B4-BE49-F238E27FC236}">
                <a16:creationId xmlns:a16="http://schemas.microsoft.com/office/drawing/2014/main" id="{B0978A75-1238-58FB-F488-A4FB2DAA3D88}"/>
              </a:ext>
            </a:extLst>
          </p:cNvPr>
          <p:cNvSpPr/>
          <p:nvPr/>
        </p:nvSpPr>
        <p:spPr>
          <a:xfrm>
            <a:off x="314824" y="13086497"/>
            <a:ext cx="18120114" cy="4208837"/>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F0C64BCE-801E-06EB-CDEF-DB798E2969FC}"/>
              </a:ext>
            </a:extLst>
          </p:cNvPr>
          <p:cNvSpPr txBox="1"/>
          <p:nvPr/>
        </p:nvSpPr>
        <p:spPr>
          <a:xfrm>
            <a:off x="10694190" y="30673834"/>
            <a:ext cx="6718853" cy="830997"/>
          </a:xfrm>
          <a:prstGeom prst="rect">
            <a:avLst/>
          </a:prstGeom>
          <a:noFill/>
        </p:spPr>
        <p:txBody>
          <a:bodyPr wrap="square" rtlCol="0">
            <a:spAutoFit/>
          </a:bodyPr>
          <a:lstStyle/>
          <a:p>
            <a:r>
              <a:rPr lang="en-US" sz="2400">
                <a:latin typeface="Times New Roman" panose="02020603050405020304" pitchFamily="18" charset="0"/>
                <a:cs typeface="Times New Roman" panose="02020603050405020304" pitchFamily="18" charset="0"/>
              </a:rPr>
              <a:t>Figure 2: Syringe pump setup for producing microcapsules via extrusion</a:t>
            </a:r>
          </a:p>
        </p:txBody>
      </p:sp>
      <p:sp>
        <p:nvSpPr>
          <p:cNvPr id="37" name="TextBox 36">
            <a:extLst>
              <a:ext uri="{FF2B5EF4-FFF2-40B4-BE49-F238E27FC236}">
                <a16:creationId xmlns:a16="http://schemas.microsoft.com/office/drawing/2014/main" id="{E5D6D815-CB80-B409-572F-B8C5BCE16E3C}"/>
              </a:ext>
            </a:extLst>
          </p:cNvPr>
          <p:cNvSpPr txBox="1"/>
          <p:nvPr/>
        </p:nvSpPr>
        <p:spPr>
          <a:xfrm>
            <a:off x="10097147" y="25351523"/>
            <a:ext cx="7411526" cy="1200329"/>
          </a:xfrm>
          <a:prstGeom prst="rect">
            <a:avLst/>
          </a:prstGeom>
          <a:noFill/>
        </p:spPr>
        <p:txBody>
          <a:bodyPr wrap="square" rtlCol="0">
            <a:spAutoFit/>
          </a:bodyPr>
          <a:lstStyle/>
          <a:p>
            <a:pPr algn="just">
              <a:spcAft>
                <a:spcPts val="600"/>
              </a:spcAft>
            </a:pPr>
            <a:r>
              <a:rPr lang="en-US" sz="2400">
                <a:latin typeface="Times New Roman" panose="02020603050405020304" pitchFamily="18" charset="0"/>
                <a:cs typeface="Times New Roman" panose="02020603050405020304" pitchFamily="18" charset="0"/>
              </a:rPr>
              <a:t>Figure 1: Schematic showing the planktonic vs encapsulated cultures and the different genera and morphologies being studied</a:t>
            </a:r>
          </a:p>
        </p:txBody>
      </p:sp>
      <p:sp>
        <p:nvSpPr>
          <p:cNvPr id="31" name="Rectangle: Rounded Corners 15">
            <a:extLst>
              <a:ext uri="{FF2B5EF4-FFF2-40B4-BE49-F238E27FC236}">
                <a16:creationId xmlns:a16="http://schemas.microsoft.com/office/drawing/2014/main" id="{4B118DF7-DA17-3D76-A431-826949074E7B}"/>
              </a:ext>
            </a:extLst>
          </p:cNvPr>
          <p:cNvSpPr/>
          <p:nvPr/>
        </p:nvSpPr>
        <p:spPr>
          <a:xfrm>
            <a:off x="702890" y="13350665"/>
            <a:ext cx="17398606" cy="818889"/>
          </a:xfrm>
          <a:prstGeom prst="roundRect">
            <a:avLst/>
          </a:prstGeom>
          <a:solidFill>
            <a:srgbClr val="012169"/>
          </a:solidFill>
          <a:ln>
            <a:solidFill>
              <a:srgbClr val="01216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a:latin typeface="Times New Roman"/>
                <a:cs typeface="Calibri"/>
              </a:rPr>
              <a:t>Objectives</a:t>
            </a:r>
            <a:endParaRPr lang="en-US" sz="3600">
              <a:latin typeface="Times New Roman"/>
            </a:endParaRPr>
          </a:p>
        </p:txBody>
      </p:sp>
      <p:sp>
        <p:nvSpPr>
          <p:cNvPr id="71" name="TextBox 70">
            <a:extLst>
              <a:ext uri="{FF2B5EF4-FFF2-40B4-BE49-F238E27FC236}">
                <a16:creationId xmlns:a16="http://schemas.microsoft.com/office/drawing/2014/main" id="{910E489F-1C5D-BF41-17B0-AE45B7D42F44}"/>
              </a:ext>
            </a:extLst>
          </p:cNvPr>
          <p:cNvSpPr txBox="1"/>
          <p:nvPr/>
        </p:nvSpPr>
        <p:spPr>
          <a:xfrm>
            <a:off x="599965" y="13709977"/>
            <a:ext cx="17467783" cy="3862596"/>
          </a:xfrm>
          <a:prstGeom prst="rect">
            <a:avLst/>
          </a:prstGeom>
          <a:noFill/>
        </p:spPr>
        <p:txBody>
          <a:bodyPr wrap="square" rtlCol="0">
            <a:spAutoFit/>
          </a:bodyPr>
          <a:lstStyle/>
          <a:p>
            <a:pPr>
              <a:spcAft>
                <a:spcPts val="600"/>
              </a:spcAft>
            </a:pPr>
            <a:endParaRPr lang="en-US" sz="4000">
              <a:latin typeface="Times New Roman" panose="02020603050405020304" pitchFamily="18" charset="0"/>
              <a:cs typeface="Times New Roman" panose="02020603050405020304" pitchFamily="18" charset="0"/>
            </a:endParaRPr>
          </a:p>
          <a:p>
            <a:pPr marL="742950" indent="-742950" algn="just">
              <a:spcAft>
                <a:spcPts val="600"/>
              </a:spcAft>
              <a:buAutoNum type="arabicPeriod"/>
            </a:pPr>
            <a:r>
              <a:rPr lang="en-US" sz="3800">
                <a:latin typeface="Times New Roman" panose="02020603050405020304" pitchFamily="18" charset="0"/>
                <a:cs typeface="Times New Roman" panose="02020603050405020304" pitchFamily="18" charset="0"/>
              </a:rPr>
              <a:t>Determine if encapsulated fungal cultures exhibit better growth compared to planktonic cultures</a:t>
            </a:r>
          </a:p>
          <a:p>
            <a:pPr marL="742950" indent="-742950" algn="just">
              <a:spcAft>
                <a:spcPts val="600"/>
              </a:spcAft>
              <a:buAutoNum type="arabicPeriod"/>
            </a:pPr>
            <a:r>
              <a:rPr lang="en-US" sz="3800">
                <a:latin typeface="Times New Roman" panose="02020603050405020304" pitchFamily="18" charset="0"/>
                <a:cs typeface="Times New Roman" panose="02020603050405020304" pitchFamily="18" charset="0"/>
              </a:rPr>
              <a:t>Investigate whether different fungal morphologies (filamentous vs. yeast-like) display distinct growth trends in encapsulated conditions</a:t>
            </a:r>
          </a:p>
          <a:p>
            <a:pPr>
              <a:spcAft>
                <a:spcPts val="600"/>
              </a:spcAft>
            </a:pPr>
            <a:endParaRPr lang="en-US" sz="3800">
              <a:latin typeface="Times New Roman" panose="02020603050405020304" pitchFamily="18" charset="0"/>
              <a:cs typeface="Times New Roman" panose="02020603050405020304" pitchFamily="18" charset="0"/>
            </a:endParaRPr>
          </a:p>
        </p:txBody>
      </p:sp>
      <p:pic>
        <p:nvPicPr>
          <p:cNvPr id="43" name="Picture 42" descr="A diagram of a scientific experiment&#10;&#10;Description automatically generated with medium confidence">
            <a:extLst>
              <a:ext uri="{FF2B5EF4-FFF2-40B4-BE49-F238E27FC236}">
                <a16:creationId xmlns:a16="http://schemas.microsoft.com/office/drawing/2014/main" id="{FA5D74E6-E9D0-0CD4-2EA2-7C5E0382FD37}"/>
              </a:ext>
            </a:extLst>
          </p:cNvPr>
          <p:cNvPicPr>
            <a:picLocks noChangeAspect="1"/>
          </p:cNvPicPr>
          <p:nvPr/>
        </p:nvPicPr>
        <p:blipFill>
          <a:blip r:embed="rId3">
            <a:extLst>
              <a:ext uri="{28A0092B-C50C-407E-A947-70E740481C1C}">
                <a14:useLocalDpi xmlns:a14="http://schemas.microsoft.com/office/drawing/2010/main" val="0"/>
              </a:ext>
            </a:extLst>
          </a:blip>
          <a:srcRect l="52881" t="25710" r="1" b="34157"/>
          <a:stretch/>
        </p:blipFill>
        <p:spPr>
          <a:xfrm>
            <a:off x="10917913" y="26829012"/>
            <a:ext cx="6162261" cy="3674159"/>
          </a:xfrm>
          <a:prstGeom prst="rect">
            <a:avLst/>
          </a:prstGeom>
        </p:spPr>
      </p:pic>
      <p:sp>
        <p:nvSpPr>
          <p:cNvPr id="44" name="TextBox 43">
            <a:extLst>
              <a:ext uri="{FF2B5EF4-FFF2-40B4-BE49-F238E27FC236}">
                <a16:creationId xmlns:a16="http://schemas.microsoft.com/office/drawing/2014/main" id="{06617C62-5291-8BEA-B449-263022203096}"/>
              </a:ext>
            </a:extLst>
          </p:cNvPr>
          <p:cNvSpPr txBox="1"/>
          <p:nvPr/>
        </p:nvSpPr>
        <p:spPr>
          <a:xfrm>
            <a:off x="19059940" y="14505021"/>
            <a:ext cx="12438346" cy="8510022"/>
          </a:xfrm>
          <a:prstGeom prst="rect">
            <a:avLst/>
          </a:prstGeom>
          <a:noFill/>
        </p:spPr>
        <p:txBody>
          <a:bodyPr wrap="square" lIns="91440" tIns="45720" rIns="91440" bIns="45720" rtlCol="0" anchor="t">
            <a:spAutoFit/>
          </a:bodyPr>
          <a:lstStyle/>
          <a:p>
            <a:pPr algn="just">
              <a:spcAft>
                <a:spcPts val="600"/>
              </a:spcAft>
            </a:pPr>
            <a:r>
              <a:rPr lang="en-US" sz="3800" b="1">
                <a:latin typeface="Times New Roman" panose="02020603050405020304" pitchFamily="18" charset="0"/>
                <a:cs typeface="Times New Roman" panose="02020603050405020304" pitchFamily="18" charset="0"/>
              </a:rPr>
              <a:t>Quantifying Fungal Growth</a:t>
            </a:r>
          </a:p>
          <a:p>
            <a:pPr algn="just">
              <a:spcAft>
                <a:spcPts val="600"/>
              </a:spcAft>
            </a:pPr>
            <a:r>
              <a:rPr lang="en-US" sz="3800">
                <a:latin typeface="Times New Roman"/>
                <a:cs typeface="Times New Roman"/>
              </a:rPr>
              <a:t>Overnight cultures and spore solutions of both genera </a:t>
            </a:r>
            <a:r>
              <a:rPr lang="en-US" sz="3800" i="1">
                <a:latin typeface="Times New Roman"/>
                <a:cs typeface="Times New Roman"/>
              </a:rPr>
              <a:t>Trichoderma </a:t>
            </a:r>
            <a:r>
              <a:rPr lang="en-US" sz="3800">
                <a:latin typeface="Times New Roman"/>
                <a:cs typeface="Times New Roman"/>
              </a:rPr>
              <a:t>and </a:t>
            </a:r>
            <a:r>
              <a:rPr lang="en-US" sz="3800" i="1">
                <a:latin typeface="Times New Roman"/>
                <a:cs typeface="Times New Roman"/>
              </a:rPr>
              <a:t>Aureobasidium</a:t>
            </a:r>
            <a:r>
              <a:rPr lang="en-US" sz="3800">
                <a:latin typeface="Times New Roman"/>
                <a:cs typeface="Times New Roman"/>
              </a:rPr>
              <a:t> were grown for 150 hours in triplicate. This was done to determine what optical density (OD) between 405nm, 500nm, and 600 nm, is a good proxy for fungal growth. OD 405nm was determined to be the most accurate proxy, depicted above.</a:t>
            </a:r>
          </a:p>
          <a:p>
            <a:pPr algn="just">
              <a:spcAft>
                <a:spcPts val="600"/>
              </a:spcAft>
            </a:pPr>
            <a:r>
              <a:rPr lang="en-US" sz="3800" b="1">
                <a:latin typeface="Times New Roman" panose="02020603050405020304" pitchFamily="18" charset="0"/>
                <a:cs typeface="Times New Roman" panose="02020603050405020304" pitchFamily="18" charset="0"/>
              </a:rPr>
              <a:t>Fungal Morphology</a:t>
            </a:r>
          </a:p>
          <a:p>
            <a:pPr algn="just">
              <a:spcAft>
                <a:spcPts val="600"/>
              </a:spcAft>
            </a:pPr>
            <a:r>
              <a:rPr lang="en-US" sz="3800">
                <a:latin typeface="Times New Roman" panose="02020603050405020304" pitchFamily="18" charset="0"/>
                <a:cs typeface="Times New Roman" panose="02020603050405020304" pitchFamily="18" charset="0"/>
              </a:rPr>
              <a:t>Preliminary results show that the filamentous fungi, </a:t>
            </a:r>
            <a:r>
              <a:rPr lang="en-US" sz="3800" i="1">
                <a:latin typeface="Times New Roman" panose="02020603050405020304" pitchFamily="18" charset="0"/>
                <a:cs typeface="Times New Roman" panose="02020603050405020304" pitchFamily="18" charset="0"/>
              </a:rPr>
              <a:t>Trichoderma</a:t>
            </a:r>
            <a:r>
              <a:rPr lang="en-US" sz="3800">
                <a:latin typeface="Times New Roman" panose="02020603050405020304" pitchFamily="18" charset="0"/>
                <a:cs typeface="Times New Roman" panose="02020603050405020304" pitchFamily="18" charset="0"/>
              </a:rPr>
              <a:t>, showed a higher OD405 value compared to the free-living culture after 150 hours. However, the yeast-like fungi, </a:t>
            </a:r>
            <a:r>
              <a:rPr lang="en-US" sz="3800" i="1">
                <a:latin typeface="Times New Roman" panose="02020603050405020304" pitchFamily="18" charset="0"/>
                <a:cs typeface="Times New Roman" panose="02020603050405020304" pitchFamily="18" charset="0"/>
              </a:rPr>
              <a:t>Aureobasidium</a:t>
            </a:r>
            <a:r>
              <a:rPr lang="en-US" sz="3800">
                <a:latin typeface="Times New Roman" panose="02020603050405020304" pitchFamily="18" charset="0"/>
                <a:cs typeface="Times New Roman" panose="02020603050405020304" pitchFamily="18" charset="0"/>
              </a:rPr>
              <a:t>, showed a lower OD 405 than the free-living culture after 150 hours. Results indicate that yeast-like fungi might not be optimal for encapsulation.</a:t>
            </a:r>
          </a:p>
        </p:txBody>
      </p:sp>
      <p:pic>
        <p:nvPicPr>
          <p:cNvPr id="51" name="Picture 50">
            <a:extLst>
              <a:ext uri="{FF2B5EF4-FFF2-40B4-BE49-F238E27FC236}">
                <a16:creationId xmlns:a16="http://schemas.microsoft.com/office/drawing/2014/main" id="{C1D23F28-AA25-76A6-F4DD-E3AB6156AA97}"/>
              </a:ext>
            </a:extLst>
          </p:cNvPr>
          <p:cNvPicPr>
            <a:picLocks noChangeAspect="1"/>
          </p:cNvPicPr>
          <p:nvPr/>
        </p:nvPicPr>
        <p:blipFill>
          <a:blip r:embed="rId4"/>
          <a:srcRect r="7912"/>
          <a:stretch/>
        </p:blipFill>
        <p:spPr>
          <a:xfrm>
            <a:off x="31927890" y="12860676"/>
            <a:ext cx="11394234" cy="7444277"/>
          </a:xfrm>
          <a:prstGeom prst="rect">
            <a:avLst/>
          </a:prstGeom>
        </p:spPr>
      </p:pic>
      <p:pic>
        <p:nvPicPr>
          <p:cNvPr id="22" name="Picture 21" descr="A blue and white logo with green hands&#10;&#10;Description automatically generated">
            <a:extLst>
              <a:ext uri="{FF2B5EF4-FFF2-40B4-BE49-F238E27FC236}">
                <a16:creationId xmlns:a16="http://schemas.microsoft.com/office/drawing/2014/main" id="{7A122EE6-3C66-F0CB-A642-11AC9BA165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943638" y="30323684"/>
            <a:ext cx="3530600" cy="1447800"/>
          </a:xfrm>
          <a:prstGeom prst="rect">
            <a:avLst/>
          </a:prstGeom>
        </p:spPr>
      </p:pic>
      <p:pic>
        <p:nvPicPr>
          <p:cNvPr id="28" name="Picture 27" descr="A blue and white logo&#10;&#10;Description automatically generated">
            <a:extLst>
              <a:ext uri="{FF2B5EF4-FFF2-40B4-BE49-F238E27FC236}">
                <a16:creationId xmlns:a16="http://schemas.microsoft.com/office/drawing/2014/main" id="{4D456354-19A0-BE63-ECF4-BECA194FC7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448042" y="30496165"/>
            <a:ext cx="1387100" cy="1186336"/>
          </a:xfrm>
          <a:prstGeom prst="rect">
            <a:avLst/>
          </a:prstGeom>
        </p:spPr>
      </p:pic>
      <p:pic>
        <p:nvPicPr>
          <p:cNvPr id="32" name="Picture 31" descr="A logo of a globe and a gold circle&#10;&#10;Description automatically generated with medium confidence">
            <a:extLst>
              <a:ext uri="{FF2B5EF4-FFF2-40B4-BE49-F238E27FC236}">
                <a16:creationId xmlns:a16="http://schemas.microsoft.com/office/drawing/2014/main" id="{43E456BA-A0D6-9B22-9DB1-694D358B2BF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127188" y="29962208"/>
            <a:ext cx="2082800" cy="2095500"/>
          </a:xfrm>
          <a:prstGeom prst="rect">
            <a:avLst/>
          </a:prstGeom>
        </p:spPr>
      </p:pic>
      <p:pic>
        <p:nvPicPr>
          <p:cNvPr id="35" name="Picture 34" descr="A grey and green logo&#10;&#10;Description automatically generated">
            <a:extLst>
              <a:ext uri="{FF2B5EF4-FFF2-40B4-BE49-F238E27FC236}">
                <a16:creationId xmlns:a16="http://schemas.microsoft.com/office/drawing/2014/main" id="{A00048EC-C89B-B3AC-8658-34F4774E6DF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4691677" y="30306370"/>
            <a:ext cx="1638300" cy="1651000"/>
          </a:xfrm>
          <a:prstGeom prst="rect">
            <a:avLst/>
          </a:prstGeom>
        </p:spPr>
      </p:pic>
      <p:sp>
        <p:nvSpPr>
          <p:cNvPr id="50" name="TextBox 49">
            <a:extLst>
              <a:ext uri="{FF2B5EF4-FFF2-40B4-BE49-F238E27FC236}">
                <a16:creationId xmlns:a16="http://schemas.microsoft.com/office/drawing/2014/main" id="{F5A12F90-53DA-533A-C301-79C60C528E7E}"/>
              </a:ext>
            </a:extLst>
          </p:cNvPr>
          <p:cNvSpPr txBox="1"/>
          <p:nvPr/>
        </p:nvSpPr>
        <p:spPr>
          <a:xfrm>
            <a:off x="19083464" y="13189426"/>
            <a:ext cx="12166974" cy="1354217"/>
          </a:xfrm>
          <a:prstGeom prst="rect">
            <a:avLst/>
          </a:prstGeom>
          <a:noFill/>
        </p:spPr>
        <p:txBody>
          <a:bodyPr wrap="square" lIns="91440" tIns="45720" rIns="91440" bIns="45720" rtlCol="0" anchor="t">
            <a:spAutoFit/>
          </a:bodyPr>
          <a:lstStyle/>
          <a:p>
            <a:pPr algn="just">
              <a:spcAft>
                <a:spcPts val="600"/>
              </a:spcAft>
            </a:pPr>
            <a:r>
              <a:rPr lang="en-US" sz="2400">
                <a:latin typeface="Times New Roman"/>
                <a:cs typeface="Times New Roman"/>
              </a:rPr>
              <a:t>Figure 3: Growth curve for free cultures of </a:t>
            </a:r>
            <a:r>
              <a:rPr lang="en-US" sz="2400" i="1">
                <a:latin typeface="Times New Roman"/>
                <a:cs typeface="Times New Roman"/>
              </a:rPr>
              <a:t>Aureobasidium</a:t>
            </a:r>
            <a:r>
              <a:rPr lang="en-US" sz="2400">
                <a:latin typeface="Times New Roman"/>
                <a:cs typeface="Times New Roman"/>
              </a:rPr>
              <a:t> (purple) and </a:t>
            </a:r>
            <a:r>
              <a:rPr lang="en-US" sz="2400" i="1">
                <a:latin typeface="Times New Roman"/>
                <a:cs typeface="Times New Roman"/>
              </a:rPr>
              <a:t>Trichoderma </a:t>
            </a:r>
            <a:r>
              <a:rPr lang="en-US" sz="2400">
                <a:latin typeface="Times New Roman"/>
                <a:cs typeface="Times New Roman"/>
              </a:rPr>
              <a:t>(green). Cultures were grown at 30</a:t>
            </a:r>
            <a:r>
              <a:rPr lang="en-US" sz="3400">
                <a:solidFill>
                  <a:srgbClr val="333333"/>
                </a:solidFill>
                <a:latin typeface="system-ui"/>
                <a:cs typeface="Times New Roman"/>
              </a:rPr>
              <a:t>°</a:t>
            </a:r>
            <a:r>
              <a:rPr lang="en-US" sz="2400">
                <a:latin typeface="Times New Roman"/>
                <a:cs typeface="Times New Roman"/>
              </a:rPr>
              <a:t>C in a 24-well plate. Triplicates were done for each group and values were corrected based on blanks. </a:t>
            </a:r>
          </a:p>
        </p:txBody>
      </p:sp>
      <p:sp>
        <p:nvSpPr>
          <p:cNvPr id="53" name="TextBox 52">
            <a:extLst>
              <a:ext uri="{FF2B5EF4-FFF2-40B4-BE49-F238E27FC236}">
                <a16:creationId xmlns:a16="http://schemas.microsoft.com/office/drawing/2014/main" id="{C4B6FC1D-349F-93B6-0D8C-0664864443FF}"/>
              </a:ext>
            </a:extLst>
          </p:cNvPr>
          <p:cNvSpPr txBox="1"/>
          <p:nvPr/>
        </p:nvSpPr>
        <p:spPr>
          <a:xfrm>
            <a:off x="31677553" y="21056876"/>
            <a:ext cx="11372828" cy="1938992"/>
          </a:xfrm>
          <a:prstGeom prst="rect">
            <a:avLst/>
          </a:prstGeom>
          <a:noFill/>
        </p:spPr>
        <p:txBody>
          <a:bodyPr wrap="square" rtlCol="0">
            <a:spAutoFit/>
          </a:bodyPr>
          <a:lstStyle/>
          <a:p>
            <a:pPr algn="just">
              <a:spcAft>
                <a:spcPts val="600"/>
              </a:spcAft>
            </a:pPr>
            <a:r>
              <a:rPr lang="en-US" sz="2400">
                <a:latin typeface="Times New Roman" panose="02020603050405020304" pitchFamily="18" charset="0"/>
                <a:cs typeface="Times New Roman" panose="02020603050405020304" pitchFamily="18" charset="0"/>
              </a:rPr>
              <a:t>Figure 4 (A-B): Growth curve depicting the relationship between encapsulated (purple) and free (green) cultures of </a:t>
            </a:r>
            <a:r>
              <a:rPr lang="en-US" sz="2400" i="1">
                <a:latin typeface="Times New Roman" panose="02020603050405020304" pitchFamily="18" charset="0"/>
                <a:cs typeface="Times New Roman" panose="02020603050405020304" pitchFamily="18" charset="0"/>
              </a:rPr>
              <a:t>Trichoderma</a:t>
            </a:r>
            <a:r>
              <a:rPr lang="en-US" sz="2400">
                <a:latin typeface="Times New Roman" panose="02020603050405020304" pitchFamily="18" charset="0"/>
                <a:cs typeface="Times New Roman" panose="02020603050405020304" pitchFamily="18" charset="0"/>
              </a:rPr>
              <a:t> (A) and </a:t>
            </a:r>
            <a:r>
              <a:rPr lang="en-US" sz="2400" i="1">
                <a:latin typeface="Times New Roman" panose="02020603050405020304" pitchFamily="18" charset="0"/>
                <a:cs typeface="Times New Roman" panose="02020603050405020304" pitchFamily="18" charset="0"/>
              </a:rPr>
              <a:t>Aureobasidium</a:t>
            </a:r>
            <a:r>
              <a:rPr lang="en-US" sz="2400">
                <a:latin typeface="Times New Roman" panose="02020603050405020304" pitchFamily="18" charset="0"/>
                <a:cs typeface="Times New Roman" panose="02020603050405020304" pitchFamily="18" charset="0"/>
              </a:rPr>
              <a:t> (B). OD 405nm was taken in 30-minute increments for 150 hours in a 24-well plate at 30 C. Samples were done in triplicate, with each replicate duplicated. Values were averaged and plotted and a single line.</a:t>
            </a:r>
          </a:p>
        </p:txBody>
      </p:sp>
      <p:grpSp>
        <p:nvGrpSpPr>
          <p:cNvPr id="62" name="Group 61">
            <a:extLst>
              <a:ext uri="{FF2B5EF4-FFF2-40B4-BE49-F238E27FC236}">
                <a16:creationId xmlns:a16="http://schemas.microsoft.com/office/drawing/2014/main" id="{F26393A8-15B9-8DD5-06EB-E12867E22854}"/>
              </a:ext>
            </a:extLst>
          </p:cNvPr>
          <p:cNvGrpSpPr/>
          <p:nvPr/>
        </p:nvGrpSpPr>
        <p:grpSpPr>
          <a:xfrm>
            <a:off x="31697219" y="5251442"/>
            <a:ext cx="11683117" cy="15378102"/>
            <a:chOff x="31697219" y="5227484"/>
            <a:chExt cx="11731033" cy="15162480"/>
          </a:xfrm>
        </p:grpSpPr>
        <p:pic>
          <p:nvPicPr>
            <p:cNvPr id="52" name="Picture 51">
              <a:extLst>
                <a:ext uri="{FF2B5EF4-FFF2-40B4-BE49-F238E27FC236}">
                  <a16:creationId xmlns:a16="http://schemas.microsoft.com/office/drawing/2014/main" id="{B81C9337-E0C4-B8C9-606F-39ABB6388D2F}"/>
                </a:ext>
              </a:extLst>
            </p:cNvPr>
            <p:cNvPicPr>
              <a:picLocks noChangeAspect="1"/>
            </p:cNvPicPr>
            <p:nvPr/>
          </p:nvPicPr>
          <p:blipFill>
            <a:blip r:embed="rId9"/>
            <a:srcRect r="8026"/>
            <a:stretch/>
          </p:blipFill>
          <p:spPr>
            <a:xfrm>
              <a:off x="31949296" y="5240847"/>
              <a:ext cx="11372828" cy="7444277"/>
            </a:xfrm>
            <a:prstGeom prst="rect">
              <a:avLst/>
            </a:prstGeom>
          </p:spPr>
        </p:pic>
        <p:sp>
          <p:nvSpPr>
            <p:cNvPr id="59" name="TextBox 58">
              <a:extLst>
                <a:ext uri="{FF2B5EF4-FFF2-40B4-BE49-F238E27FC236}">
                  <a16:creationId xmlns:a16="http://schemas.microsoft.com/office/drawing/2014/main" id="{AD03A087-E9F6-3E2C-E2EF-6192125E8F4E}"/>
                </a:ext>
              </a:extLst>
            </p:cNvPr>
            <p:cNvSpPr txBox="1"/>
            <p:nvPr/>
          </p:nvSpPr>
          <p:spPr>
            <a:xfrm>
              <a:off x="31697219" y="5227484"/>
              <a:ext cx="3144061" cy="963384"/>
            </a:xfrm>
            <a:prstGeom prst="rect">
              <a:avLst/>
            </a:prstGeom>
            <a:noFill/>
          </p:spPr>
          <p:txBody>
            <a:bodyPr wrap="square" rtlCol="0">
              <a:spAutoFit/>
            </a:bodyPr>
            <a:lstStyle/>
            <a:p>
              <a:r>
                <a:rPr lang="en-US" sz="6000"/>
                <a:t>A</a:t>
              </a:r>
            </a:p>
          </p:txBody>
        </p:sp>
        <p:pic>
          <p:nvPicPr>
            <p:cNvPr id="61" name="Picture 60">
              <a:extLst>
                <a:ext uri="{FF2B5EF4-FFF2-40B4-BE49-F238E27FC236}">
                  <a16:creationId xmlns:a16="http://schemas.microsoft.com/office/drawing/2014/main" id="{A81AE233-D741-35BF-0D0C-8278D13843F8}"/>
                </a:ext>
              </a:extLst>
            </p:cNvPr>
            <p:cNvPicPr>
              <a:picLocks noChangeAspect="1"/>
            </p:cNvPicPr>
            <p:nvPr/>
          </p:nvPicPr>
          <p:blipFill>
            <a:blip r:embed="rId10"/>
            <a:srcRect r="8296"/>
            <a:stretch/>
          </p:blipFill>
          <p:spPr>
            <a:xfrm>
              <a:off x="31949297" y="12746175"/>
              <a:ext cx="11478955" cy="7643789"/>
            </a:xfrm>
            <a:prstGeom prst="rect">
              <a:avLst/>
            </a:prstGeom>
          </p:spPr>
        </p:pic>
        <p:sp>
          <p:nvSpPr>
            <p:cNvPr id="72" name="TextBox 71">
              <a:extLst>
                <a:ext uri="{FF2B5EF4-FFF2-40B4-BE49-F238E27FC236}">
                  <a16:creationId xmlns:a16="http://schemas.microsoft.com/office/drawing/2014/main" id="{CC6BEF13-38F8-47DE-4C0C-2878627D13FA}"/>
                </a:ext>
              </a:extLst>
            </p:cNvPr>
            <p:cNvSpPr txBox="1"/>
            <p:nvPr/>
          </p:nvSpPr>
          <p:spPr>
            <a:xfrm>
              <a:off x="31954929" y="12888774"/>
              <a:ext cx="3144061" cy="963384"/>
            </a:xfrm>
            <a:prstGeom prst="rect">
              <a:avLst/>
            </a:prstGeom>
            <a:noFill/>
          </p:spPr>
          <p:txBody>
            <a:bodyPr wrap="square" rtlCol="0">
              <a:spAutoFit/>
            </a:bodyPr>
            <a:lstStyle/>
            <a:p>
              <a:r>
                <a:rPr lang="en-US" sz="6000"/>
                <a:t>B</a:t>
              </a:r>
            </a:p>
          </p:txBody>
        </p:sp>
      </p:grpSp>
      <p:pic>
        <p:nvPicPr>
          <p:cNvPr id="24" name="Picture 23" descr="A diagram of different types of test tubes&#10;&#10;Description automatically generated">
            <a:extLst>
              <a:ext uri="{FF2B5EF4-FFF2-40B4-BE49-F238E27FC236}">
                <a16:creationId xmlns:a16="http://schemas.microsoft.com/office/drawing/2014/main" id="{2BECA49C-FE09-0F14-8D8F-EE23F9AA2C48}"/>
              </a:ext>
            </a:extLst>
          </p:cNvPr>
          <p:cNvPicPr>
            <a:picLocks noChangeAspect="1"/>
          </p:cNvPicPr>
          <p:nvPr/>
        </p:nvPicPr>
        <p:blipFill>
          <a:blip r:embed="rId11"/>
          <a:srcRect r="-395" b="26760"/>
          <a:stretch/>
        </p:blipFill>
        <p:spPr>
          <a:xfrm>
            <a:off x="10043986" y="18981167"/>
            <a:ext cx="8084098" cy="6045163"/>
          </a:xfrm>
          <a:prstGeom prst="rect">
            <a:avLst/>
          </a:prstGeom>
        </p:spPr>
      </p:pic>
      <p:pic>
        <p:nvPicPr>
          <p:cNvPr id="17" name="Content Placeholder 3" descr="A graph of different colored lines&#10;&#10;Description automatically generated">
            <a:extLst>
              <a:ext uri="{FF2B5EF4-FFF2-40B4-BE49-F238E27FC236}">
                <a16:creationId xmlns:a16="http://schemas.microsoft.com/office/drawing/2014/main" id="{E0E9D780-3B4A-0ABC-BB12-523D5780F054}"/>
              </a:ext>
            </a:extLst>
          </p:cNvPr>
          <p:cNvPicPr>
            <a:picLocks noChangeAspect="1"/>
          </p:cNvPicPr>
          <p:nvPr/>
        </p:nvPicPr>
        <p:blipFill>
          <a:blip r:embed="rId12"/>
          <a:srcRect l="-65" t="-446" r="5292" b="-432"/>
          <a:stretch/>
        </p:blipFill>
        <p:spPr>
          <a:xfrm>
            <a:off x="19051652" y="5280074"/>
            <a:ext cx="12464076" cy="7811862"/>
          </a:xfrm>
          <a:prstGeom prst="rect">
            <a:avLst/>
          </a:prstGeom>
        </p:spPr>
      </p:pic>
    </p:spTree>
    <p:extLst>
      <p:ext uri="{BB962C8B-B14F-4D97-AF65-F5344CB8AC3E}">
        <p14:creationId xmlns:p14="http://schemas.microsoft.com/office/powerpoint/2010/main" val="35390458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cp:revision>
  <dcterms:created xsi:type="dcterms:W3CDTF">2024-02-07T16:07:15Z</dcterms:created>
  <dcterms:modified xsi:type="dcterms:W3CDTF">2024-10-08T15:43:10Z</dcterms:modified>
</cp:coreProperties>
</file>